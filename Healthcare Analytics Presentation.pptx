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257" r:id="rId5"/>
    <p:sldId id="258" r:id="rId6"/>
    <p:sldId id="259" r:id="rId8"/>
    <p:sldId id="260" r:id="rId9"/>
    <p:sldId id="278" r:id="rId10"/>
    <p:sldId id="277" r:id="rId11"/>
    <p:sldId id="261" r:id="rId12"/>
    <p:sldId id="267" r:id="rId13"/>
    <p:sldId id="262" r:id="rId14"/>
    <p:sldId id="272" r:id="rId15"/>
    <p:sldId id="263" r:id="rId16"/>
    <p:sldId id="268" r:id="rId17"/>
    <p:sldId id="264" r:id="rId18"/>
    <p:sldId id="269" r:id="rId19"/>
    <p:sldId id="265" r:id="rId20"/>
    <p:sldId id="270" r:id="rId21"/>
    <p:sldId id="266" r:id="rId22"/>
    <p:sldId id="271" r:id="rId23"/>
    <p:sldId id="281" r:id="rId24"/>
    <p:sldId id="273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3.svg"/><Relationship Id="rId12" Type="http://schemas.openxmlformats.org/officeDocument/2006/relationships/image" Target="../media/image2.png"/><Relationship Id="rId11" Type="http://schemas.openxmlformats.org/officeDocument/2006/relationships/tags" Target="../tags/tag9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image" Target="../media/image4.png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单圆角矩形 2"/>
          <p:cNvSpPr/>
          <p:nvPr>
            <p:custDataLst>
              <p:tags r:id="rId2"/>
            </p:custDataLst>
          </p:nvPr>
        </p:nvSpPr>
        <p:spPr>
          <a:xfrm flipH="1">
            <a:off x="4914899" y="3076367"/>
            <a:ext cx="4237030" cy="2201492"/>
          </a:xfrm>
          <a:prstGeom prst="round1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5" name="矩形 174"/>
          <p:cNvSpPr/>
          <p:nvPr>
            <p:custDataLst>
              <p:tags r:id="rId3"/>
            </p:custDataLst>
          </p:nvPr>
        </p:nvSpPr>
        <p:spPr>
          <a:xfrm>
            <a:off x="-5084" y="5280246"/>
            <a:ext cx="9143999" cy="7205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18624" y="1174909"/>
            <a:ext cx="53816" cy="5381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53403" y="1174909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椭圆 2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87705" y="1174909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椭圆 2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22008" y="1175385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4" hasCustomPrompt="1"/>
            <p:custDataLst>
              <p:tags r:id="rId8"/>
            </p:custDataLst>
          </p:nvPr>
        </p:nvSpPr>
        <p:spPr>
          <a:xfrm>
            <a:off x="548798" y="2250794"/>
            <a:ext cx="5283509" cy="19512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75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110" y="1353368"/>
            <a:ext cx="3423915" cy="4647382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52110" y="1353368"/>
            <a:ext cx="3423915" cy="4647382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14"/>
            </p:custDataLst>
          </p:nvPr>
        </p:nvSpPr>
        <p:spPr>
          <a:xfrm>
            <a:off x="548799" y="1255937"/>
            <a:ext cx="5147151" cy="95301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7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548640" y="4245878"/>
            <a:ext cx="2812733" cy="378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500" spc="0" baseline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456300" y="1975050"/>
            <a:ext cx="8226900" cy="3569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-5084" y="5280246"/>
            <a:ext cx="9143999" cy="7205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: 圆角 1"/>
          <p:cNvSpPr/>
          <p:nvPr userDrawn="1">
            <p:custDataLst>
              <p:tags r:id="rId3"/>
            </p:custDataLst>
          </p:nvPr>
        </p:nvSpPr>
        <p:spPr>
          <a:xfrm>
            <a:off x="381868" y="2337704"/>
            <a:ext cx="8370094" cy="3302794"/>
          </a:xfrm>
          <a:prstGeom prst="roundRect">
            <a:avLst>
              <a:gd name="adj" fmla="val 4433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reflection blurRad="6350" stA="20000" endPos="7000" dist="127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816974" y="1155483"/>
            <a:ext cx="7499882" cy="9118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矩形: 圆角 1"/>
          <p:cNvSpPr/>
          <p:nvPr userDrawn="1">
            <p:custDataLst>
              <p:tags r:id="rId8"/>
            </p:custDataLst>
          </p:nvPr>
        </p:nvSpPr>
        <p:spPr>
          <a:xfrm>
            <a:off x="381868" y="2337704"/>
            <a:ext cx="8370094" cy="3302794"/>
          </a:xfrm>
          <a:prstGeom prst="roundRect">
            <a:avLst>
              <a:gd name="adj" fmla="val 4433"/>
            </a:avLst>
          </a:prstGeom>
          <a:solidFill>
            <a:schemeClr val="bg2">
              <a:alpha val="85000"/>
            </a:schemeClr>
          </a:solidFill>
          <a:ln w="3175">
            <a:noFill/>
          </a:ln>
          <a:effectLst>
            <a:reflection blurRad="6350" stA="20000" endPos="7000" dist="127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单圆角矩形 12"/>
          <p:cNvSpPr/>
          <p:nvPr>
            <p:custDataLst>
              <p:tags r:id="rId2"/>
            </p:custDataLst>
          </p:nvPr>
        </p:nvSpPr>
        <p:spPr>
          <a:xfrm>
            <a:off x="0" y="3217069"/>
            <a:ext cx="3295174" cy="1712119"/>
          </a:xfrm>
          <a:prstGeom prst="round1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3"/>
            </p:custDataLst>
          </p:nvPr>
        </p:nvSpPr>
        <p:spPr>
          <a:xfrm>
            <a:off x="0" y="4928711"/>
            <a:ext cx="9144000" cy="10720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4"/>
            </p:custDataLst>
          </p:nvPr>
        </p:nvSpPr>
        <p:spPr>
          <a:xfrm>
            <a:off x="3972878" y="3348921"/>
            <a:ext cx="4659630" cy="433864"/>
          </a:xfrm>
          <a:custGeom>
            <a:avLst/>
            <a:gdLst>
              <a:gd name="connsiteX0" fmla="*/ 0 w 6099858"/>
              <a:gd name="connsiteY0" fmla="*/ 196769 h 578734"/>
              <a:gd name="connsiteX1" fmla="*/ 4514127 w 6099858"/>
              <a:gd name="connsiteY1" fmla="*/ 196769 h 578734"/>
              <a:gd name="connsiteX2" fmla="*/ 4641448 w 6099858"/>
              <a:gd name="connsiteY2" fmla="*/ 0 h 578734"/>
              <a:gd name="connsiteX3" fmla="*/ 4745620 w 6099858"/>
              <a:gd name="connsiteY3" fmla="*/ 578734 h 578734"/>
              <a:gd name="connsiteX4" fmla="*/ 4872942 w 6099858"/>
              <a:gd name="connsiteY4" fmla="*/ 196769 h 578734"/>
              <a:gd name="connsiteX5" fmla="*/ 6099858 w 6099858"/>
              <a:gd name="connsiteY5" fmla="*/ 196769 h 57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858" h="578734">
                <a:moveTo>
                  <a:pt x="0" y="196769"/>
                </a:moveTo>
                <a:lnTo>
                  <a:pt x="4514127" y="196769"/>
                </a:lnTo>
                <a:lnTo>
                  <a:pt x="4641448" y="0"/>
                </a:lnTo>
                <a:lnTo>
                  <a:pt x="4745620" y="578734"/>
                </a:lnTo>
                <a:lnTo>
                  <a:pt x="4872942" y="196769"/>
                </a:lnTo>
                <a:lnTo>
                  <a:pt x="6099858" y="196769"/>
                </a:lnTo>
              </a:path>
            </a:pathLst>
          </a:cu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4" hasCustomPrompt="1"/>
            <p:custDataLst>
              <p:tags r:id="rId5"/>
            </p:custDataLst>
          </p:nvPr>
        </p:nvSpPr>
        <p:spPr>
          <a:xfrm>
            <a:off x="3544253" y="1465421"/>
            <a:ext cx="5214938" cy="188356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13" hasCustomPrompt="1"/>
            <p:custDataLst>
              <p:tags r:id="rId6"/>
            </p:custDataLst>
          </p:nvPr>
        </p:nvSpPr>
        <p:spPr>
          <a:xfrm>
            <a:off x="3665519" y="4335414"/>
            <a:ext cx="5336967" cy="116772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latin typeface="+mn-lt"/>
                <a:sym typeface="MiSans Normal" panose="00000500000000000000" charset="-122"/>
              </a:defRPr>
            </a:lvl1pPr>
          </a:lstStyle>
          <a:p>
            <a:pPr lvl="0" algn="l"/>
            <a:r>
              <a:rPr dirty="0">
                <a:latin typeface="+mn-lt"/>
                <a:sym typeface="+mn-ea"/>
              </a:rPr>
              <a:t> text</a:t>
            </a:r>
            <a:endParaRPr dirty="0">
              <a:sym typeface="+mn-ea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273415" y="1196816"/>
            <a:ext cx="53816" cy="5381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407718" y="1196816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8542020" y="1196816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676323" y="1197293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6"/>
          <a:stretch>
            <a:fillRect/>
          </a:stretch>
        </p:blipFill>
        <p:spPr>
          <a:xfrm>
            <a:off x="728945" y="1238997"/>
            <a:ext cx="2888945" cy="4770596"/>
          </a:xfrm>
          <a:prstGeom prst="rect">
            <a:avLst/>
          </a:prstGeom>
        </p:spPr>
      </p:pic>
      <p:sp>
        <p:nvSpPr>
          <p:cNvPr id="29" name="任意多边形: 形状 28"/>
          <p:cNvSpPr/>
          <p:nvPr>
            <p:custDataLst>
              <p:tags r:id="rId13"/>
            </p:custDataLst>
          </p:nvPr>
        </p:nvSpPr>
        <p:spPr>
          <a:xfrm>
            <a:off x="876821" y="2118845"/>
            <a:ext cx="2056715" cy="3243095"/>
          </a:xfrm>
          <a:custGeom>
            <a:avLst/>
            <a:gdLst>
              <a:gd name="connsiteX0" fmla="*/ 1569638 w 2742286"/>
              <a:gd name="connsiteY0" fmla="*/ 91613 h 4324127"/>
              <a:gd name="connsiteX1" fmla="*/ 1594068 w 2742286"/>
              <a:gd name="connsiteY1" fmla="*/ 91613 h 4324127"/>
              <a:gd name="connsiteX2" fmla="*/ 1667359 w 2742286"/>
              <a:gd name="connsiteY2" fmla="*/ 293161 h 4324127"/>
              <a:gd name="connsiteX3" fmla="*/ 1649036 w 2742286"/>
              <a:gd name="connsiteY3" fmla="*/ 299269 h 4324127"/>
              <a:gd name="connsiteX4" fmla="*/ 1642929 w 2742286"/>
              <a:gd name="connsiteY4" fmla="*/ 433634 h 4324127"/>
              <a:gd name="connsiteX5" fmla="*/ 1636821 w 2742286"/>
              <a:gd name="connsiteY5" fmla="*/ 433634 h 4324127"/>
              <a:gd name="connsiteX6" fmla="*/ 1630714 w 2742286"/>
              <a:gd name="connsiteY6" fmla="*/ 427527 h 4324127"/>
              <a:gd name="connsiteX7" fmla="*/ 1539100 w 2742286"/>
              <a:gd name="connsiteY7" fmla="*/ 274839 h 4324127"/>
              <a:gd name="connsiteX8" fmla="*/ 1526885 w 2742286"/>
              <a:gd name="connsiteY8" fmla="*/ 280946 h 4324127"/>
              <a:gd name="connsiteX9" fmla="*/ 1465810 w 2742286"/>
              <a:gd name="connsiteY9" fmla="*/ 519140 h 4324127"/>
              <a:gd name="connsiteX10" fmla="*/ 1166540 w 2742286"/>
              <a:gd name="connsiteY10" fmla="*/ 280946 h 4324127"/>
              <a:gd name="connsiteX11" fmla="*/ 1166540 w 2742286"/>
              <a:gd name="connsiteY11" fmla="*/ 293161 h 4324127"/>
              <a:gd name="connsiteX12" fmla="*/ 1484133 w 2742286"/>
              <a:gd name="connsiteY12" fmla="*/ 543570 h 4324127"/>
              <a:gd name="connsiteX13" fmla="*/ 1539100 w 2742286"/>
              <a:gd name="connsiteY13" fmla="*/ 311484 h 4324127"/>
              <a:gd name="connsiteX14" fmla="*/ 1539100 w 2742286"/>
              <a:gd name="connsiteY14" fmla="*/ 317591 h 4324127"/>
              <a:gd name="connsiteX15" fmla="*/ 1642929 w 2742286"/>
              <a:gd name="connsiteY15" fmla="*/ 482494 h 4324127"/>
              <a:gd name="connsiteX16" fmla="*/ 1655144 w 2742286"/>
              <a:gd name="connsiteY16" fmla="*/ 476387 h 4324127"/>
              <a:gd name="connsiteX17" fmla="*/ 1673466 w 2742286"/>
              <a:gd name="connsiteY17" fmla="*/ 293161 h 4324127"/>
              <a:gd name="connsiteX18" fmla="*/ 1697897 w 2742286"/>
              <a:gd name="connsiteY18" fmla="*/ 622967 h 4324127"/>
              <a:gd name="connsiteX19" fmla="*/ 1716219 w 2742286"/>
              <a:gd name="connsiteY19" fmla="*/ 1074924 h 4324127"/>
              <a:gd name="connsiteX20" fmla="*/ 1728434 w 2742286"/>
              <a:gd name="connsiteY20" fmla="*/ 1074924 h 4324127"/>
              <a:gd name="connsiteX21" fmla="*/ 1887230 w 2742286"/>
              <a:gd name="connsiteY21" fmla="*/ 677935 h 4324127"/>
              <a:gd name="connsiteX22" fmla="*/ 1801725 w 2742286"/>
              <a:gd name="connsiteY22" fmla="*/ 586322 h 4324127"/>
              <a:gd name="connsiteX23" fmla="*/ 1807832 w 2742286"/>
              <a:gd name="connsiteY23" fmla="*/ 580215 h 4324127"/>
              <a:gd name="connsiteX24" fmla="*/ 1844478 w 2742286"/>
              <a:gd name="connsiteY24" fmla="*/ 574107 h 4324127"/>
              <a:gd name="connsiteX25" fmla="*/ 1887230 w 2742286"/>
              <a:gd name="connsiteY25" fmla="*/ 586322 h 4324127"/>
              <a:gd name="connsiteX26" fmla="*/ 1813940 w 2742286"/>
              <a:gd name="connsiteY26" fmla="*/ 171011 h 4324127"/>
              <a:gd name="connsiteX27" fmla="*/ 1826155 w 2742286"/>
              <a:gd name="connsiteY27" fmla="*/ 171011 h 4324127"/>
              <a:gd name="connsiteX28" fmla="*/ 1826155 w 2742286"/>
              <a:gd name="connsiteY28" fmla="*/ 177118 h 4324127"/>
              <a:gd name="connsiteX29" fmla="*/ 1905553 w 2742286"/>
              <a:gd name="connsiteY29" fmla="*/ 598537 h 4324127"/>
              <a:gd name="connsiteX30" fmla="*/ 1856693 w 2742286"/>
              <a:gd name="connsiteY30" fmla="*/ 604645 h 4324127"/>
              <a:gd name="connsiteX31" fmla="*/ 1844478 w 2742286"/>
              <a:gd name="connsiteY31" fmla="*/ 598537 h 4324127"/>
              <a:gd name="connsiteX32" fmla="*/ 1844478 w 2742286"/>
              <a:gd name="connsiteY32" fmla="*/ 604645 h 4324127"/>
              <a:gd name="connsiteX33" fmla="*/ 1911660 w 2742286"/>
              <a:gd name="connsiteY33" fmla="*/ 677935 h 4324127"/>
              <a:gd name="connsiteX34" fmla="*/ 1740649 w 2742286"/>
              <a:gd name="connsiteY34" fmla="*/ 1105462 h 4324127"/>
              <a:gd name="connsiteX35" fmla="*/ 1765079 w 2742286"/>
              <a:gd name="connsiteY35" fmla="*/ 1307010 h 4324127"/>
              <a:gd name="connsiteX36" fmla="*/ 1783402 w 2742286"/>
              <a:gd name="connsiteY36" fmla="*/ 1850580 h 4324127"/>
              <a:gd name="connsiteX37" fmla="*/ 1844478 w 2742286"/>
              <a:gd name="connsiteY37" fmla="*/ 4324127 h 4324127"/>
              <a:gd name="connsiteX38" fmla="*/ 1820047 w 2742286"/>
              <a:gd name="connsiteY38" fmla="*/ 4324127 h 4324127"/>
              <a:gd name="connsiteX39" fmla="*/ 1777295 w 2742286"/>
              <a:gd name="connsiteY39" fmla="*/ 2424687 h 4324127"/>
              <a:gd name="connsiteX40" fmla="*/ 1752864 w 2742286"/>
              <a:gd name="connsiteY40" fmla="*/ 1435268 h 4324127"/>
              <a:gd name="connsiteX41" fmla="*/ 1410842 w 2742286"/>
              <a:gd name="connsiteY41" fmla="*/ 1038279 h 4324127"/>
              <a:gd name="connsiteX42" fmla="*/ 1209293 w 2742286"/>
              <a:gd name="connsiteY42" fmla="*/ 824516 h 4324127"/>
              <a:gd name="connsiteX43" fmla="*/ 1258154 w 2742286"/>
              <a:gd name="connsiteY43" fmla="*/ 684043 h 4324127"/>
              <a:gd name="connsiteX44" fmla="*/ 1239831 w 2742286"/>
              <a:gd name="connsiteY44" fmla="*/ 684043 h 4324127"/>
              <a:gd name="connsiteX45" fmla="*/ 1117680 w 2742286"/>
              <a:gd name="connsiteY45" fmla="*/ 714580 h 4324127"/>
              <a:gd name="connsiteX46" fmla="*/ 885594 w 2742286"/>
              <a:gd name="connsiteY46" fmla="*/ 366451 h 4324127"/>
              <a:gd name="connsiteX47" fmla="*/ 806195 w 2742286"/>
              <a:gd name="connsiteY47" fmla="*/ 250408 h 4324127"/>
              <a:gd name="connsiteX48" fmla="*/ 812303 w 2742286"/>
              <a:gd name="connsiteY48" fmla="*/ 244301 h 4324127"/>
              <a:gd name="connsiteX49" fmla="*/ 818411 w 2742286"/>
              <a:gd name="connsiteY49" fmla="*/ 250408 h 4324127"/>
              <a:gd name="connsiteX50" fmla="*/ 1050497 w 2742286"/>
              <a:gd name="connsiteY50" fmla="*/ 574107 h 4324127"/>
              <a:gd name="connsiteX51" fmla="*/ 1160433 w 2742286"/>
              <a:gd name="connsiteY51" fmla="*/ 690150 h 4324127"/>
              <a:gd name="connsiteX52" fmla="*/ 1270369 w 2742286"/>
              <a:gd name="connsiteY52" fmla="*/ 665720 h 4324127"/>
              <a:gd name="connsiteX53" fmla="*/ 1276476 w 2742286"/>
              <a:gd name="connsiteY53" fmla="*/ 696258 h 4324127"/>
              <a:gd name="connsiteX54" fmla="*/ 1233723 w 2742286"/>
              <a:gd name="connsiteY54" fmla="*/ 812301 h 4324127"/>
              <a:gd name="connsiteX55" fmla="*/ 1331444 w 2742286"/>
              <a:gd name="connsiteY55" fmla="*/ 922236 h 4324127"/>
              <a:gd name="connsiteX56" fmla="*/ 1740649 w 2742286"/>
              <a:gd name="connsiteY56" fmla="*/ 1361978 h 4324127"/>
              <a:gd name="connsiteX57" fmla="*/ 1746757 w 2742286"/>
              <a:gd name="connsiteY57" fmla="*/ 1361978 h 4324127"/>
              <a:gd name="connsiteX58" fmla="*/ 1746757 w 2742286"/>
              <a:gd name="connsiteY58" fmla="*/ 1252042 h 4324127"/>
              <a:gd name="connsiteX59" fmla="*/ 1734542 w 2742286"/>
              <a:gd name="connsiteY59" fmla="*/ 1142107 h 4324127"/>
              <a:gd name="connsiteX60" fmla="*/ 1569638 w 2742286"/>
              <a:gd name="connsiteY60" fmla="*/ 891699 h 4324127"/>
              <a:gd name="connsiteX61" fmla="*/ 1282584 w 2742286"/>
              <a:gd name="connsiteY61" fmla="*/ 464172 h 4324127"/>
              <a:gd name="connsiteX62" fmla="*/ 1056605 w 2742286"/>
              <a:gd name="connsiteY62" fmla="*/ 122150 h 4324127"/>
              <a:gd name="connsiteX63" fmla="*/ 1166540 w 2742286"/>
              <a:gd name="connsiteY63" fmla="*/ 0 h 4324127"/>
              <a:gd name="connsiteX64" fmla="*/ 1166540 w 2742286"/>
              <a:gd name="connsiteY64" fmla="*/ 54968 h 4324127"/>
              <a:gd name="connsiteX65" fmla="*/ 1532993 w 2742286"/>
              <a:gd name="connsiteY65" fmla="*/ 262624 h 4324127"/>
              <a:gd name="connsiteX66" fmla="*/ 1569638 w 2742286"/>
              <a:gd name="connsiteY66" fmla="*/ 91613 h 4324127"/>
              <a:gd name="connsiteX67" fmla="*/ 2638458 w 2742286"/>
              <a:gd name="connsiteY67" fmla="*/ 372559 h 4324127"/>
              <a:gd name="connsiteX68" fmla="*/ 2662888 w 2742286"/>
              <a:gd name="connsiteY68" fmla="*/ 372559 h 4324127"/>
              <a:gd name="connsiteX69" fmla="*/ 2742286 w 2742286"/>
              <a:gd name="connsiteY69" fmla="*/ 519140 h 4324127"/>
              <a:gd name="connsiteX70" fmla="*/ 2711748 w 2742286"/>
              <a:gd name="connsiteY70" fmla="*/ 525247 h 4324127"/>
              <a:gd name="connsiteX71" fmla="*/ 2650673 w 2742286"/>
              <a:gd name="connsiteY71" fmla="*/ 451957 h 4324127"/>
              <a:gd name="connsiteX72" fmla="*/ 2650673 w 2742286"/>
              <a:gd name="connsiteY72" fmla="*/ 458064 h 4324127"/>
              <a:gd name="connsiteX73" fmla="*/ 2675103 w 2742286"/>
              <a:gd name="connsiteY73" fmla="*/ 531355 h 4324127"/>
              <a:gd name="connsiteX74" fmla="*/ 2668996 w 2742286"/>
              <a:gd name="connsiteY74" fmla="*/ 537462 h 4324127"/>
              <a:gd name="connsiteX75" fmla="*/ 2656781 w 2742286"/>
              <a:gd name="connsiteY75" fmla="*/ 531355 h 4324127"/>
              <a:gd name="connsiteX76" fmla="*/ 2607920 w 2742286"/>
              <a:gd name="connsiteY76" fmla="*/ 403097 h 4324127"/>
              <a:gd name="connsiteX77" fmla="*/ 2632350 w 2742286"/>
              <a:gd name="connsiteY77" fmla="*/ 396989 h 4324127"/>
              <a:gd name="connsiteX78" fmla="*/ 2717856 w 2742286"/>
              <a:gd name="connsiteY78" fmla="*/ 494709 h 4324127"/>
              <a:gd name="connsiteX79" fmla="*/ 2717856 w 2742286"/>
              <a:gd name="connsiteY79" fmla="*/ 476387 h 4324127"/>
              <a:gd name="connsiteX80" fmla="*/ 2638458 w 2742286"/>
              <a:gd name="connsiteY80" fmla="*/ 372559 h 4324127"/>
              <a:gd name="connsiteX81" fmla="*/ 2168177 w 2742286"/>
              <a:gd name="connsiteY81" fmla="*/ 1007742 h 4324127"/>
              <a:gd name="connsiteX82" fmla="*/ 2125424 w 2742286"/>
              <a:gd name="connsiteY82" fmla="*/ 586322 h 4324127"/>
              <a:gd name="connsiteX83" fmla="*/ 2131532 w 2742286"/>
              <a:gd name="connsiteY83" fmla="*/ 580215 h 4324127"/>
              <a:gd name="connsiteX84" fmla="*/ 2143747 w 2742286"/>
              <a:gd name="connsiteY84" fmla="*/ 586322 h 4324127"/>
              <a:gd name="connsiteX85" fmla="*/ 2186500 w 2742286"/>
              <a:gd name="connsiteY85" fmla="*/ 897806 h 4324127"/>
              <a:gd name="connsiteX86" fmla="*/ 2241468 w 2742286"/>
              <a:gd name="connsiteY86" fmla="*/ 1013849 h 4324127"/>
              <a:gd name="connsiteX87" fmla="*/ 2192607 w 2742286"/>
              <a:gd name="connsiteY87" fmla="*/ 1013849 h 4324127"/>
              <a:gd name="connsiteX88" fmla="*/ 830626 w 2742286"/>
              <a:gd name="connsiteY88" fmla="*/ 1032172 h 4324127"/>
              <a:gd name="connsiteX89" fmla="*/ 848948 w 2742286"/>
              <a:gd name="connsiteY89" fmla="*/ 1038279 h 4324127"/>
              <a:gd name="connsiteX90" fmla="*/ 720690 w 2742286"/>
              <a:gd name="connsiteY90" fmla="*/ 1331440 h 4324127"/>
              <a:gd name="connsiteX91" fmla="*/ 684045 w 2742286"/>
              <a:gd name="connsiteY91" fmla="*/ 1539096 h 4324127"/>
              <a:gd name="connsiteX92" fmla="*/ 647399 w 2742286"/>
              <a:gd name="connsiteY92" fmla="*/ 1392516 h 4324127"/>
              <a:gd name="connsiteX93" fmla="*/ 830626 w 2742286"/>
              <a:gd name="connsiteY93" fmla="*/ 1032172 h 4324127"/>
              <a:gd name="connsiteX94" fmla="*/ 311485 w 2742286"/>
              <a:gd name="connsiteY94" fmla="*/ 1868902 h 4324127"/>
              <a:gd name="connsiteX95" fmla="*/ 311485 w 2742286"/>
              <a:gd name="connsiteY95" fmla="*/ 1844472 h 4324127"/>
              <a:gd name="connsiteX96" fmla="*/ 421420 w 2742286"/>
              <a:gd name="connsiteY96" fmla="*/ 1801720 h 4324127"/>
              <a:gd name="connsiteX97" fmla="*/ 415313 w 2742286"/>
              <a:gd name="connsiteY97" fmla="*/ 1801720 h 4324127"/>
              <a:gd name="connsiteX98" fmla="*/ 238194 w 2742286"/>
              <a:gd name="connsiteY98" fmla="*/ 1838365 h 4324127"/>
              <a:gd name="connsiteX99" fmla="*/ 232087 w 2742286"/>
              <a:gd name="connsiteY99" fmla="*/ 1820042 h 4324127"/>
              <a:gd name="connsiteX100" fmla="*/ 451958 w 2742286"/>
              <a:gd name="connsiteY100" fmla="*/ 1789505 h 4324127"/>
              <a:gd name="connsiteX101" fmla="*/ 458066 w 2742286"/>
              <a:gd name="connsiteY101" fmla="*/ 1813935 h 4324127"/>
              <a:gd name="connsiteX102" fmla="*/ 366452 w 2742286"/>
              <a:gd name="connsiteY102" fmla="*/ 1850580 h 4324127"/>
              <a:gd name="connsiteX103" fmla="*/ 464173 w 2742286"/>
              <a:gd name="connsiteY103" fmla="*/ 1850580 h 4324127"/>
              <a:gd name="connsiteX104" fmla="*/ 458066 w 2742286"/>
              <a:gd name="connsiteY104" fmla="*/ 1862795 h 4324127"/>
              <a:gd name="connsiteX105" fmla="*/ 458066 w 2742286"/>
              <a:gd name="connsiteY105" fmla="*/ 1868902 h 4324127"/>
              <a:gd name="connsiteX106" fmla="*/ 311485 w 2742286"/>
              <a:gd name="connsiteY106" fmla="*/ 1868902 h 4324127"/>
              <a:gd name="connsiteX107" fmla="*/ 745120 w 2742286"/>
              <a:gd name="connsiteY107" fmla="*/ 2791139 h 4324127"/>
              <a:gd name="connsiteX108" fmla="*/ 1074927 w 2742286"/>
              <a:gd name="connsiteY108" fmla="*/ 2815569 h 4324127"/>
              <a:gd name="connsiteX109" fmla="*/ 1252046 w 2742286"/>
              <a:gd name="connsiteY109" fmla="*/ 2809461 h 4324127"/>
              <a:gd name="connsiteX110" fmla="*/ 1258154 w 2742286"/>
              <a:gd name="connsiteY110" fmla="*/ 2827784 h 4324127"/>
              <a:gd name="connsiteX111" fmla="*/ 1215401 w 2742286"/>
              <a:gd name="connsiteY111" fmla="*/ 2827784 h 4324127"/>
              <a:gd name="connsiteX112" fmla="*/ 739013 w 2742286"/>
              <a:gd name="connsiteY112" fmla="*/ 2809461 h 4324127"/>
              <a:gd name="connsiteX113" fmla="*/ 1252046 w 2742286"/>
              <a:gd name="connsiteY113" fmla="*/ 2901074 h 4324127"/>
              <a:gd name="connsiteX114" fmla="*/ 1270369 w 2742286"/>
              <a:gd name="connsiteY114" fmla="*/ 2907182 h 4324127"/>
              <a:gd name="connsiteX115" fmla="*/ 1239831 w 2742286"/>
              <a:gd name="connsiteY115" fmla="*/ 3401891 h 4324127"/>
              <a:gd name="connsiteX116" fmla="*/ 1227616 w 2742286"/>
              <a:gd name="connsiteY116" fmla="*/ 3401891 h 4324127"/>
              <a:gd name="connsiteX117" fmla="*/ 793980 w 2742286"/>
              <a:gd name="connsiteY117" fmla="*/ 3395784 h 4324127"/>
              <a:gd name="connsiteX118" fmla="*/ 787873 w 2742286"/>
              <a:gd name="connsiteY118" fmla="*/ 3383568 h 4324127"/>
              <a:gd name="connsiteX119" fmla="*/ 812303 w 2742286"/>
              <a:gd name="connsiteY119" fmla="*/ 3377461 h 4324127"/>
              <a:gd name="connsiteX120" fmla="*/ 1227616 w 2742286"/>
              <a:gd name="connsiteY120" fmla="*/ 3383568 h 4324127"/>
              <a:gd name="connsiteX121" fmla="*/ 1245938 w 2742286"/>
              <a:gd name="connsiteY121" fmla="*/ 3224773 h 4324127"/>
              <a:gd name="connsiteX122" fmla="*/ 1252046 w 2742286"/>
              <a:gd name="connsiteY122" fmla="*/ 2901074 h 4324127"/>
              <a:gd name="connsiteX123" fmla="*/ 128258 w 2742286"/>
              <a:gd name="connsiteY123" fmla="*/ 2949934 h 4324127"/>
              <a:gd name="connsiteX124" fmla="*/ 311485 w 2742286"/>
              <a:gd name="connsiteY124" fmla="*/ 2974364 h 4324127"/>
              <a:gd name="connsiteX125" fmla="*/ 317592 w 2742286"/>
              <a:gd name="connsiteY125" fmla="*/ 2992687 h 4324127"/>
              <a:gd name="connsiteX126" fmla="*/ 299270 w 2742286"/>
              <a:gd name="connsiteY126" fmla="*/ 2992687 h 4324127"/>
              <a:gd name="connsiteX127" fmla="*/ 6108 w 2742286"/>
              <a:gd name="connsiteY127" fmla="*/ 2992687 h 4324127"/>
              <a:gd name="connsiteX128" fmla="*/ 0 w 2742286"/>
              <a:gd name="connsiteY128" fmla="*/ 2974364 h 4324127"/>
              <a:gd name="connsiteX129" fmla="*/ 12215 w 2742286"/>
              <a:gd name="connsiteY129" fmla="*/ 2974364 h 4324127"/>
              <a:gd name="connsiteX130" fmla="*/ 128258 w 2742286"/>
              <a:gd name="connsiteY130" fmla="*/ 2949934 h 432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2742286" h="4324127">
                <a:moveTo>
                  <a:pt x="1569638" y="91613"/>
                </a:moveTo>
                <a:lnTo>
                  <a:pt x="1594068" y="91613"/>
                </a:lnTo>
                <a:cubicBezTo>
                  <a:pt x="1622615" y="154417"/>
                  <a:pt x="1662888" y="209433"/>
                  <a:pt x="1667359" y="293161"/>
                </a:cubicBezTo>
                <a:cubicBezTo>
                  <a:pt x="1648108" y="294725"/>
                  <a:pt x="1662119" y="285063"/>
                  <a:pt x="1649036" y="299269"/>
                </a:cubicBezTo>
                <a:cubicBezTo>
                  <a:pt x="1647002" y="344055"/>
                  <a:pt x="1644963" y="388848"/>
                  <a:pt x="1642929" y="433634"/>
                </a:cubicBezTo>
                <a:lnTo>
                  <a:pt x="1636821" y="433634"/>
                </a:lnTo>
                <a:lnTo>
                  <a:pt x="1630714" y="427527"/>
                </a:lnTo>
                <a:lnTo>
                  <a:pt x="1539100" y="274839"/>
                </a:lnTo>
                <a:lnTo>
                  <a:pt x="1526885" y="280946"/>
                </a:lnTo>
                <a:cubicBezTo>
                  <a:pt x="1495853" y="338516"/>
                  <a:pt x="1515391" y="479752"/>
                  <a:pt x="1465810" y="519140"/>
                </a:cubicBezTo>
                <a:cubicBezTo>
                  <a:pt x="1430759" y="471098"/>
                  <a:pt x="1223884" y="295763"/>
                  <a:pt x="1166540" y="280946"/>
                </a:cubicBezTo>
                <a:lnTo>
                  <a:pt x="1166540" y="293161"/>
                </a:lnTo>
                <a:cubicBezTo>
                  <a:pt x="1233791" y="340024"/>
                  <a:pt x="1426764" y="539398"/>
                  <a:pt x="1484133" y="543570"/>
                </a:cubicBezTo>
                <a:cubicBezTo>
                  <a:pt x="1502455" y="466206"/>
                  <a:pt x="1520778" y="388848"/>
                  <a:pt x="1539100" y="311484"/>
                </a:cubicBezTo>
                <a:lnTo>
                  <a:pt x="1539100" y="317591"/>
                </a:lnTo>
                <a:lnTo>
                  <a:pt x="1642929" y="482494"/>
                </a:lnTo>
                <a:lnTo>
                  <a:pt x="1655144" y="476387"/>
                </a:lnTo>
                <a:cubicBezTo>
                  <a:pt x="1677369" y="428357"/>
                  <a:pt x="1649830" y="336445"/>
                  <a:pt x="1673466" y="293161"/>
                </a:cubicBezTo>
                <a:cubicBezTo>
                  <a:pt x="1681608" y="403097"/>
                  <a:pt x="1689755" y="513032"/>
                  <a:pt x="1697897" y="622967"/>
                </a:cubicBezTo>
                <a:cubicBezTo>
                  <a:pt x="1723847" y="770409"/>
                  <a:pt x="1680148" y="952523"/>
                  <a:pt x="1716219" y="1074924"/>
                </a:cubicBezTo>
                <a:lnTo>
                  <a:pt x="1728434" y="1074924"/>
                </a:lnTo>
                <a:cubicBezTo>
                  <a:pt x="1753255" y="932546"/>
                  <a:pt x="1866239" y="826733"/>
                  <a:pt x="1887230" y="677935"/>
                </a:cubicBezTo>
                <a:lnTo>
                  <a:pt x="1801725" y="586322"/>
                </a:lnTo>
                <a:lnTo>
                  <a:pt x="1807832" y="580215"/>
                </a:lnTo>
                <a:lnTo>
                  <a:pt x="1844478" y="574107"/>
                </a:lnTo>
                <a:cubicBezTo>
                  <a:pt x="1857230" y="582658"/>
                  <a:pt x="1865701" y="584295"/>
                  <a:pt x="1887230" y="586322"/>
                </a:cubicBezTo>
                <a:cubicBezTo>
                  <a:pt x="1888201" y="425878"/>
                  <a:pt x="1827010" y="305217"/>
                  <a:pt x="1813940" y="171011"/>
                </a:cubicBezTo>
                <a:lnTo>
                  <a:pt x="1826155" y="171011"/>
                </a:lnTo>
                <a:lnTo>
                  <a:pt x="1826155" y="177118"/>
                </a:lnTo>
                <a:cubicBezTo>
                  <a:pt x="1893686" y="261585"/>
                  <a:pt x="1905309" y="456275"/>
                  <a:pt x="1905553" y="598537"/>
                </a:cubicBezTo>
                <a:lnTo>
                  <a:pt x="1856693" y="604645"/>
                </a:lnTo>
                <a:lnTo>
                  <a:pt x="1844478" y="598537"/>
                </a:lnTo>
                <a:lnTo>
                  <a:pt x="1844478" y="604645"/>
                </a:lnTo>
                <a:lnTo>
                  <a:pt x="1911660" y="677935"/>
                </a:lnTo>
                <a:cubicBezTo>
                  <a:pt x="1877568" y="837122"/>
                  <a:pt x="1773459" y="951778"/>
                  <a:pt x="1740649" y="1105462"/>
                </a:cubicBezTo>
                <a:cubicBezTo>
                  <a:pt x="1784349" y="1147952"/>
                  <a:pt x="1750996" y="1231417"/>
                  <a:pt x="1765079" y="1307010"/>
                </a:cubicBezTo>
                <a:cubicBezTo>
                  <a:pt x="1771187" y="1488202"/>
                  <a:pt x="1777295" y="1669388"/>
                  <a:pt x="1783402" y="1850580"/>
                </a:cubicBezTo>
                <a:lnTo>
                  <a:pt x="1844478" y="4324127"/>
                </a:lnTo>
                <a:lnTo>
                  <a:pt x="1820047" y="4324127"/>
                </a:lnTo>
                <a:cubicBezTo>
                  <a:pt x="1805798" y="3691046"/>
                  <a:pt x="1791544" y="3057897"/>
                  <a:pt x="1777295" y="2424687"/>
                </a:cubicBezTo>
                <a:cubicBezTo>
                  <a:pt x="1769153" y="2094911"/>
                  <a:pt x="1761006" y="1765105"/>
                  <a:pt x="1752864" y="1435268"/>
                </a:cubicBezTo>
                <a:cubicBezTo>
                  <a:pt x="1707455" y="1255829"/>
                  <a:pt x="1538606" y="1138443"/>
                  <a:pt x="1410842" y="1038279"/>
                </a:cubicBezTo>
                <a:lnTo>
                  <a:pt x="1209293" y="824516"/>
                </a:lnTo>
                <a:cubicBezTo>
                  <a:pt x="1210557" y="765969"/>
                  <a:pt x="1237180" y="725739"/>
                  <a:pt x="1258154" y="684043"/>
                </a:cubicBezTo>
                <a:lnTo>
                  <a:pt x="1239831" y="684043"/>
                </a:lnTo>
                <a:lnTo>
                  <a:pt x="1117680" y="714580"/>
                </a:lnTo>
                <a:cubicBezTo>
                  <a:pt x="1046081" y="597963"/>
                  <a:pt x="965468" y="480186"/>
                  <a:pt x="885594" y="366451"/>
                </a:cubicBezTo>
                <a:cubicBezTo>
                  <a:pt x="859942" y="329904"/>
                  <a:pt x="819186" y="298866"/>
                  <a:pt x="806195" y="250408"/>
                </a:cubicBezTo>
                <a:lnTo>
                  <a:pt x="812303" y="244301"/>
                </a:lnTo>
                <a:lnTo>
                  <a:pt x="818411" y="250408"/>
                </a:lnTo>
                <a:lnTo>
                  <a:pt x="1050497" y="574107"/>
                </a:lnTo>
                <a:cubicBezTo>
                  <a:pt x="1080009" y="618344"/>
                  <a:pt x="1091589" y="684928"/>
                  <a:pt x="1160433" y="690150"/>
                </a:cubicBezTo>
                <a:cubicBezTo>
                  <a:pt x="1187819" y="671357"/>
                  <a:pt x="1240442" y="662898"/>
                  <a:pt x="1270369" y="665720"/>
                </a:cubicBezTo>
                <a:cubicBezTo>
                  <a:pt x="1272402" y="675895"/>
                  <a:pt x="1283915" y="683493"/>
                  <a:pt x="1276476" y="696258"/>
                </a:cubicBezTo>
                <a:cubicBezTo>
                  <a:pt x="1258825" y="720224"/>
                  <a:pt x="1227005" y="788799"/>
                  <a:pt x="1233723" y="812301"/>
                </a:cubicBezTo>
                <a:cubicBezTo>
                  <a:pt x="1252626" y="861234"/>
                  <a:pt x="1297352" y="888144"/>
                  <a:pt x="1331444" y="922236"/>
                </a:cubicBezTo>
                <a:cubicBezTo>
                  <a:pt x="1433843" y="1024641"/>
                  <a:pt x="1704700" y="1225493"/>
                  <a:pt x="1740649" y="1361978"/>
                </a:cubicBezTo>
                <a:lnTo>
                  <a:pt x="1746757" y="1361978"/>
                </a:lnTo>
                <a:lnTo>
                  <a:pt x="1746757" y="1252042"/>
                </a:lnTo>
                <a:cubicBezTo>
                  <a:pt x="1742683" y="1215397"/>
                  <a:pt x="1738615" y="1178752"/>
                  <a:pt x="1734542" y="1142107"/>
                </a:cubicBezTo>
                <a:cubicBezTo>
                  <a:pt x="1697603" y="1049370"/>
                  <a:pt x="1624123" y="968953"/>
                  <a:pt x="1569638" y="891699"/>
                </a:cubicBezTo>
                <a:lnTo>
                  <a:pt x="1282584" y="464172"/>
                </a:lnTo>
                <a:cubicBezTo>
                  <a:pt x="1226730" y="384774"/>
                  <a:pt x="1069919" y="220842"/>
                  <a:pt x="1056605" y="122150"/>
                </a:cubicBezTo>
                <a:cubicBezTo>
                  <a:pt x="1091900" y="80424"/>
                  <a:pt x="1092780" y="3952"/>
                  <a:pt x="1166540" y="0"/>
                </a:cubicBezTo>
                <a:lnTo>
                  <a:pt x="1166540" y="54968"/>
                </a:lnTo>
                <a:cubicBezTo>
                  <a:pt x="1268164" y="121937"/>
                  <a:pt x="1395421" y="243745"/>
                  <a:pt x="1532993" y="262624"/>
                </a:cubicBezTo>
                <a:cubicBezTo>
                  <a:pt x="1556348" y="198250"/>
                  <a:pt x="1576931" y="165642"/>
                  <a:pt x="1569638" y="91613"/>
                </a:cubicBezTo>
                <a:close/>
                <a:moveTo>
                  <a:pt x="2638458" y="372559"/>
                </a:moveTo>
                <a:lnTo>
                  <a:pt x="2662888" y="372559"/>
                </a:lnTo>
                <a:cubicBezTo>
                  <a:pt x="2700407" y="415495"/>
                  <a:pt x="2739397" y="439229"/>
                  <a:pt x="2742286" y="519140"/>
                </a:cubicBezTo>
                <a:cubicBezTo>
                  <a:pt x="2739232" y="533504"/>
                  <a:pt x="2727017" y="536851"/>
                  <a:pt x="2711748" y="525247"/>
                </a:cubicBezTo>
                <a:lnTo>
                  <a:pt x="2650673" y="451957"/>
                </a:lnTo>
                <a:lnTo>
                  <a:pt x="2650673" y="458064"/>
                </a:lnTo>
                <a:cubicBezTo>
                  <a:pt x="2666253" y="476442"/>
                  <a:pt x="2672660" y="499174"/>
                  <a:pt x="2675103" y="531355"/>
                </a:cubicBezTo>
                <a:lnTo>
                  <a:pt x="2668996" y="537462"/>
                </a:lnTo>
                <a:lnTo>
                  <a:pt x="2656781" y="531355"/>
                </a:lnTo>
                <a:cubicBezTo>
                  <a:pt x="2640364" y="485121"/>
                  <a:pt x="2614950" y="451780"/>
                  <a:pt x="2607920" y="403097"/>
                </a:cubicBezTo>
                <a:lnTo>
                  <a:pt x="2632350" y="396989"/>
                </a:lnTo>
                <a:lnTo>
                  <a:pt x="2717856" y="494709"/>
                </a:lnTo>
                <a:lnTo>
                  <a:pt x="2717856" y="476387"/>
                </a:lnTo>
                <a:cubicBezTo>
                  <a:pt x="2694067" y="448524"/>
                  <a:pt x="2652890" y="403952"/>
                  <a:pt x="2638458" y="372559"/>
                </a:cubicBezTo>
                <a:close/>
                <a:moveTo>
                  <a:pt x="2168177" y="1007742"/>
                </a:moveTo>
                <a:cubicBezTo>
                  <a:pt x="2170706" y="866071"/>
                  <a:pt x="2156353" y="724603"/>
                  <a:pt x="2125424" y="586322"/>
                </a:cubicBezTo>
                <a:lnTo>
                  <a:pt x="2131532" y="580215"/>
                </a:lnTo>
                <a:lnTo>
                  <a:pt x="2143747" y="586322"/>
                </a:lnTo>
                <a:cubicBezTo>
                  <a:pt x="2190048" y="669159"/>
                  <a:pt x="2159059" y="792952"/>
                  <a:pt x="2186500" y="897806"/>
                </a:cubicBezTo>
                <a:lnTo>
                  <a:pt x="2241468" y="1013849"/>
                </a:lnTo>
                <a:lnTo>
                  <a:pt x="2192607" y="1013849"/>
                </a:lnTo>
                <a:close/>
                <a:moveTo>
                  <a:pt x="830626" y="1032172"/>
                </a:moveTo>
                <a:lnTo>
                  <a:pt x="848948" y="1038279"/>
                </a:lnTo>
                <a:lnTo>
                  <a:pt x="720690" y="1331440"/>
                </a:lnTo>
                <a:cubicBezTo>
                  <a:pt x="708475" y="1400657"/>
                  <a:pt x="696260" y="1469880"/>
                  <a:pt x="684045" y="1539096"/>
                </a:cubicBezTo>
                <a:lnTo>
                  <a:pt x="647399" y="1392516"/>
                </a:lnTo>
                <a:cubicBezTo>
                  <a:pt x="728263" y="1293824"/>
                  <a:pt x="773942" y="1152832"/>
                  <a:pt x="830626" y="1032172"/>
                </a:cubicBezTo>
                <a:close/>
                <a:moveTo>
                  <a:pt x="311485" y="1868902"/>
                </a:moveTo>
                <a:cubicBezTo>
                  <a:pt x="297053" y="1863467"/>
                  <a:pt x="311485" y="1852614"/>
                  <a:pt x="311485" y="1844472"/>
                </a:cubicBezTo>
                <a:cubicBezTo>
                  <a:pt x="341283" y="1832257"/>
                  <a:pt x="399274" y="1823804"/>
                  <a:pt x="421420" y="1801720"/>
                </a:cubicBezTo>
                <a:lnTo>
                  <a:pt x="415313" y="1801720"/>
                </a:lnTo>
                <a:lnTo>
                  <a:pt x="238194" y="1838365"/>
                </a:lnTo>
                <a:cubicBezTo>
                  <a:pt x="226236" y="1835867"/>
                  <a:pt x="234120" y="1826150"/>
                  <a:pt x="232087" y="1820042"/>
                </a:cubicBezTo>
                <a:cubicBezTo>
                  <a:pt x="297663" y="1803668"/>
                  <a:pt x="374075" y="1774950"/>
                  <a:pt x="451958" y="1789505"/>
                </a:cubicBezTo>
                <a:cubicBezTo>
                  <a:pt x="453992" y="1797646"/>
                  <a:pt x="466854" y="1802184"/>
                  <a:pt x="458066" y="1813935"/>
                </a:cubicBezTo>
                <a:lnTo>
                  <a:pt x="366452" y="1850580"/>
                </a:lnTo>
                <a:lnTo>
                  <a:pt x="464173" y="1850580"/>
                </a:lnTo>
                <a:lnTo>
                  <a:pt x="458066" y="1862795"/>
                </a:lnTo>
                <a:lnTo>
                  <a:pt x="458066" y="1868902"/>
                </a:lnTo>
                <a:lnTo>
                  <a:pt x="311485" y="1868902"/>
                </a:lnTo>
                <a:close/>
                <a:moveTo>
                  <a:pt x="745120" y="2791139"/>
                </a:moveTo>
                <a:cubicBezTo>
                  <a:pt x="846463" y="2803787"/>
                  <a:pt x="950865" y="2815569"/>
                  <a:pt x="1074927" y="2815569"/>
                </a:cubicBezTo>
                <a:lnTo>
                  <a:pt x="1252046" y="2809461"/>
                </a:lnTo>
                <a:cubicBezTo>
                  <a:pt x="1254080" y="2815569"/>
                  <a:pt x="1262740" y="2820296"/>
                  <a:pt x="1258154" y="2827784"/>
                </a:cubicBezTo>
                <a:lnTo>
                  <a:pt x="1215401" y="2827784"/>
                </a:lnTo>
                <a:cubicBezTo>
                  <a:pt x="1122475" y="2873969"/>
                  <a:pt x="824518" y="2828681"/>
                  <a:pt x="739013" y="2809461"/>
                </a:cubicBezTo>
                <a:close/>
                <a:moveTo>
                  <a:pt x="1252046" y="2901074"/>
                </a:moveTo>
                <a:cubicBezTo>
                  <a:pt x="1263815" y="2895577"/>
                  <a:pt x="1269300" y="2897593"/>
                  <a:pt x="1270369" y="2907182"/>
                </a:cubicBezTo>
                <a:cubicBezTo>
                  <a:pt x="1272268" y="3080635"/>
                  <a:pt x="1272201" y="3262029"/>
                  <a:pt x="1239831" y="3401891"/>
                </a:cubicBezTo>
                <a:lnTo>
                  <a:pt x="1227616" y="3401891"/>
                </a:lnTo>
                <a:cubicBezTo>
                  <a:pt x="1136742" y="3455509"/>
                  <a:pt x="888983" y="3418046"/>
                  <a:pt x="793980" y="3395784"/>
                </a:cubicBezTo>
                <a:cubicBezTo>
                  <a:pt x="791947" y="3391710"/>
                  <a:pt x="789907" y="3387642"/>
                  <a:pt x="787873" y="3383568"/>
                </a:cubicBezTo>
                <a:lnTo>
                  <a:pt x="812303" y="3377461"/>
                </a:lnTo>
                <a:cubicBezTo>
                  <a:pt x="869103" y="3407919"/>
                  <a:pt x="1160934" y="3407388"/>
                  <a:pt x="1227616" y="3383568"/>
                </a:cubicBezTo>
                <a:lnTo>
                  <a:pt x="1245938" y="3224773"/>
                </a:lnTo>
                <a:cubicBezTo>
                  <a:pt x="1247972" y="3116871"/>
                  <a:pt x="1250012" y="3008976"/>
                  <a:pt x="1252046" y="2901074"/>
                </a:cubicBezTo>
                <a:close/>
                <a:moveTo>
                  <a:pt x="128258" y="2949934"/>
                </a:moveTo>
                <a:cubicBezTo>
                  <a:pt x="185889" y="2948407"/>
                  <a:pt x="274711" y="2949714"/>
                  <a:pt x="311485" y="2974364"/>
                </a:cubicBezTo>
                <a:lnTo>
                  <a:pt x="317592" y="2992687"/>
                </a:lnTo>
                <a:lnTo>
                  <a:pt x="299270" y="2992687"/>
                </a:lnTo>
                <a:cubicBezTo>
                  <a:pt x="233180" y="2949214"/>
                  <a:pt x="76698" y="2980319"/>
                  <a:pt x="6108" y="2992687"/>
                </a:cubicBezTo>
                <a:lnTo>
                  <a:pt x="0" y="2974364"/>
                </a:lnTo>
                <a:lnTo>
                  <a:pt x="12215" y="2974364"/>
                </a:lnTo>
                <a:cubicBezTo>
                  <a:pt x="40921" y="2956689"/>
                  <a:pt x="95162" y="2966248"/>
                  <a:pt x="128258" y="2949934"/>
                </a:cubicBezTo>
                <a:close/>
              </a:path>
            </a:pathLst>
          </a:custGeom>
          <a:solidFill>
            <a:schemeClr val="accent1"/>
          </a:solidFill>
          <a:ln w="6093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6" name="任意多边形: 形状 55"/>
          <p:cNvSpPr/>
          <p:nvPr>
            <p:custDataLst>
              <p:tags r:id="rId14"/>
            </p:custDataLst>
          </p:nvPr>
        </p:nvSpPr>
        <p:spPr>
          <a:xfrm>
            <a:off x="3151500" y="1426760"/>
            <a:ext cx="392861" cy="680060"/>
          </a:xfrm>
          <a:custGeom>
            <a:avLst/>
            <a:gdLst>
              <a:gd name="connsiteX0" fmla="*/ 113660 w 523814"/>
              <a:gd name="connsiteY0" fmla="*/ 1897 h 906747"/>
              <a:gd name="connsiteX1" fmla="*/ 120301 w 523814"/>
              <a:gd name="connsiteY1" fmla="*/ 14897 h 906747"/>
              <a:gd name="connsiteX2" fmla="*/ 137046 w 523814"/>
              <a:gd name="connsiteY2" fmla="*/ 21962 h 906747"/>
              <a:gd name="connsiteX3" fmla="*/ 186502 w 523814"/>
              <a:gd name="connsiteY3" fmla="*/ 21962 h 906747"/>
              <a:gd name="connsiteX4" fmla="*/ 186502 w 523814"/>
              <a:gd name="connsiteY4" fmla="*/ 382994 h 906747"/>
              <a:gd name="connsiteX5" fmla="*/ -231 w 523814"/>
              <a:gd name="connsiteY5" fmla="*/ 644406 h 906747"/>
              <a:gd name="connsiteX6" fmla="*/ 261676 w 523814"/>
              <a:gd name="connsiteY6" fmla="*/ 906384 h 906747"/>
              <a:gd name="connsiteX7" fmla="*/ 523583 w 523814"/>
              <a:gd name="connsiteY7" fmla="*/ 644406 h 906747"/>
              <a:gd name="connsiteX8" fmla="*/ 337062 w 523814"/>
              <a:gd name="connsiteY8" fmla="*/ 382994 h 906747"/>
              <a:gd name="connsiteX9" fmla="*/ 337061 w 523814"/>
              <a:gd name="connsiteY9" fmla="*/ 21821 h 906747"/>
              <a:gd name="connsiteX10" fmla="*/ 386518 w 523814"/>
              <a:gd name="connsiteY10" fmla="*/ 21821 h 906747"/>
              <a:gd name="connsiteX11" fmla="*/ 410116 w 523814"/>
              <a:gd name="connsiteY11" fmla="*/ -364 h 906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3814" h="906747">
                <a:moveTo>
                  <a:pt x="113660" y="1897"/>
                </a:moveTo>
                <a:cubicBezTo>
                  <a:pt x="114453" y="6820"/>
                  <a:pt x="116777" y="11369"/>
                  <a:pt x="120301" y="14897"/>
                </a:cubicBezTo>
                <a:cubicBezTo>
                  <a:pt x="124711" y="19400"/>
                  <a:pt x="130743" y="21945"/>
                  <a:pt x="137046" y="21962"/>
                </a:cubicBezTo>
                <a:lnTo>
                  <a:pt x="186502" y="21962"/>
                </a:lnTo>
                <a:lnTo>
                  <a:pt x="186502" y="382994"/>
                </a:lnTo>
                <a:cubicBezTo>
                  <a:pt x="74780" y="421261"/>
                  <a:pt x="-261" y="526313"/>
                  <a:pt x="-231" y="644406"/>
                </a:cubicBezTo>
                <a:cubicBezTo>
                  <a:pt x="-231" y="796661"/>
                  <a:pt x="109491" y="906384"/>
                  <a:pt x="261676" y="906384"/>
                </a:cubicBezTo>
                <a:cubicBezTo>
                  <a:pt x="413860" y="906384"/>
                  <a:pt x="523583" y="796661"/>
                  <a:pt x="523583" y="644406"/>
                </a:cubicBezTo>
                <a:cubicBezTo>
                  <a:pt x="523643" y="526369"/>
                  <a:pt x="448699" y="421333"/>
                  <a:pt x="337062" y="382994"/>
                </a:cubicBezTo>
                <a:lnTo>
                  <a:pt x="337061" y="21821"/>
                </a:lnTo>
                <a:lnTo>
                  <a:pt x="386518" y="21821"/>
                </a:lnTo>
                <a:cubicBezTo>
                  <a:pt x="399018" y="21843"/>
                  <a:pt x="409367" y="12114"/>
                  <a:pt x="410116" y="-364"/>
                </a:cubicBezTo>
                <a:close/>
              </a:path>
            </a:pathLst>
          </a:custGeom>
          <a:solidFill>
            <a:srgbClr val="FFFFFF"/>
          </a:solidFill>
          <a:ln w="6951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任意多边形: 形状 56"/>
          <p:cNvSpPr/>
          <p:nvPr>
            <p:custDataLst>
              <p:tags r:id="rId15"/>
            </p:custDataLst>
          </p:nvPr>
        </p:nvSpPr>
        <p:spPr>
          <a:xfrm>
            <a:off x="3203762" y="1861163"/>
            <a:ext cx="288511" cy="186628"/>
          </a:xfrm>
          <a:custGeom>
            <a:avLst/>
            <a:gdLst>
              <a:gd name="connsiteX0" fmla="*/ 8298 w 384681"/>
              <a:gd name="connsiteY0" fmla="*/ -364 h 248837"/>
              <a:gd name="connsiteX1" fmla="*/ 135662 w 384681"/>
              <a:gd name="connsiteY1" fmla="*/ 239945 h 248837"/>
              <a:gd name="connsiteX2" fmla="*/ 375971 w 384681"/>
              <a:gd name="connsiteY2" fmla="*/ 112580 h 248837"/>
              <a:gd name="connsiteX3" fmla="*/ 384450 w 384681"/>
              <a:gd name="connsiteY3" fmla="*/ 56158 h 248837"/>
              <a:gd name="connsiteX4" fmla="*/ 375971 w 384681"/>
              <a:gd name="connsiteY4" fmla="*/ -364 h 24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681" h="248837">
                <a:moveTo>
                  <a:pt x="8298" y="-364"/>
                </a:moveTo>
                <a:cubicBezTo>
                  <a:pt x="-22891" y="101166"/>
                  <a:pt x="34132" y="208756"/>
                  <a:pt x="135662" y="239945"/>
                </a:cubicBezTo>
                <a:cubicBezTo>
                  <a:pt x="237193" y="271133"/>
                  <a:pt x="344782" y="214110"/>
                  <a:pt x="375971" y="112580"/>
                </a:cubicBezTo>
                <a:cubicBezTo>
                  <a:pt x="381587" y="94299"/>
                  <a:pt x="384445" y="75282"/>
                  <a:pt x="384450" y="56158"/>
                </a:cubicBezTo>
                <a:cubicBezTo>
                  <a:pt x="384478" y="36998"/>
                  <a:pt x="381620" y="17944"/>
                  <a:pt x="375971" y="-364"/>
                </a:cubicBezTo>
                <a:close/>
              </a:path>
            </a:pathLst>
          </a:custGeom>
          <a:solidFill>
            <a:schemeClr val="accent1"/>
          </a:solidFill>
          <a:ln w="6951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>
            <p:custDataLst>
              <p:tags r:id="rId16"/>
            </p:custDataLst>
          </p:nvPr>
        </p:nvSpPr>
        <p:spPr>
          <a:xfrm>
            <a:off x="3151448" y="1418493"/>
            <a:ext cx="392861" cy="688221"/>
          </a:xfrm>
          <a:custGeom>
            <a:avLst/>
            <a:gdLst>
              <a:gd name="connsiteX0" fmla="*/ 337273 w 523814"/>
              <a:gd name="connsiteY0" fmla="*/ 393945 h 917628"/>
              <a:gd name="connsiteX1" fmla="*/ 337273 w 523814"/>
              <a:gd name="connsiteY1" fmla="*/ 32843 h 917628"/>
              <a:gd name="connsiteX2" fmla="*/ 394643 w 523814"/>
              <a:gd name="connsiteY2" fmla="*/ 32843 h 917628"/>
              <a:gd name="connsiteX3" fmla="*/ 411246 w 523814"/>
              <a:gd name="connsiteY3" fmla="*/ 16239 h 917628"/>
              <a:gd name="connsiteX4" fmla="*/ 411246 w 523814"/>
              <a:gd name="connsiteY4" fmla="*/ 16239 h 917628"/>
              <a:gd name="connsiteX5" fmla="*/ 394643 w 523814"/>
              <a:gd name="connsiteY5" fmla="*/ -364 h 917628"/>
              <a:gd name="connsiteX6" fmla="*/ 129980 w 523814"/>
              <a:gd name="connsiteY6" fmla="*/ -364 h 917628"/>
              <a:gd name="connsiteX7" fmla="*/ 113377 w 523814"/>
              <a:gd name="connsiteY7" fmla="*/ 16239 h 917628"/>
              <a:gd name="connsiteX8" fmla="*/ 113377 w 523814"/>
              <a:gd name="connsiteY8" fmla="*/ 16239 h 917628"/>
              <a:gd name="connsiteX9" fmla="*/ 129980 w 523814"/>
              <a:gd name="connsiteY9" fmla="*/ 32843 h 917628"/>
              <a:gd name="connsiteX10" fmla="*/ 186502 w 523814"/>
              <a:gd name="connsiteY10" fmla="*/ 32843 h 917628"/>
              <a:gd name="connsiteX11" fmla="*/ 186502 w 523814"/>
              <a:gd name="connsiteY11" fmla="*/ 393874 h 917628"/>
              <a:gd name="connsiteX12" fmla="*/ -231 w 523814"/>
              <a:gd name="connsiteY12" fmla="*/ 655286 h 917628"/>
              <a:gd name="connsiteX13" fmla="*/ 261676 w 523814"/>
              <a:gd name="connsiteY13" fmla="*/ 917264 h 917628"/>
              <a:gd name="connsiteX14" fmla="*/ 523583 w 523814"/>
              <a:gd name="connsiteY14" fmla="*/ 655286 h 917628"/>
              <a:gd name="connsiteX15" fmla="*/ 337273 w 523814"/>
              <a:gd name="connsiteY15" fmla="*/ 393945 h 917628"/>
              <a:gd name="connsiteX16" fmla="*/ 261887 w 523814"/>
              <a:gd name="connsiteY16" fmla="*/ 890770 h 917628"/>
              <a:gd name="connsiteX17" fmla="*/ 26192 w 523814"/>
              <a:gd name="connsiteY17" fmla="*/ 655004 h 917628"/>
              <a:gd name="connsiteX18" fmla="*/ 195757 w 523814"/>
              <a:gd name="connsiteY18" fmla="*/ 427081 h 917628"/>
              <a:gd name="connsiteX19" fmla="*/ 212714 w 523814"/>
              <a:gd name="connsiteY19" fmla="*/ 399173 h 917628"/>
              <a:gd name="connsiteX20" fmla="*/ 219779 w 523814"/>
              <a:gd name="connsiteY20" fmla="*/ 32843 h 917628"/>
              <a:gd name="connsiteX21" fmla="*/ 303996 w 523814"/>
              <a:gd name="connsiteY21" fmla="*/ 32843 h 917628"/>
              <a:gd name="connsiteX22" fmla="*/ 311061 w 523814"/>
              <a:gd name="connsiteY22" fmla="*/ 398608 h 917628"/>
              <a:gd name="connsiteX23" fmla="*/ 328018 w 523814"/>
              <a:gd name="connsiteY23" fmla="*/ 426869 h 917628"/>
              <a:gd name="connsiteX24" fmla="*/ 497583 w 523814"/>
              <a:gd name="connsiteY24" fmla="*/ 654792 h 917628"/>
              <a:gd name="connsiteX25" fmla="*/ 261887 w 523814"/>
              <a:gd name="connsiteY25" fmla="*/ 890770 h 917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23814" h="917628">
                <a:moveTo>
                  <a:pt x="337273" y="393945"/>
                </a:moveTo>
                <a:lnTo>
                  <a:pt x="337273" y="32843"/>
                </a:lnTo>
                <a:lnTo>
                  <a:pt x="394643" y="32843"/>
                </a:lnTo>
                <a:cubicBezTo>
                  <a:pt x="403796" y="32804"/>
                  <a:pt x="411207" y="25393"/>
                  <a:pt x="411246" y="16239"/>
                </a:cubicBezTo>
                <a:lnTo>
                  <a:pt x="411246" y="16239"/>
                </a:lnTo>
                <a:cubicBezTo>
                  <a:pt x="411207" y="7086"/>
                  <a:pt x="403796" y="-325"/>
                  <a:pt x="394643" y="-364"/>
                </a:cubicBezTo>
                <a:lnTo>
                  <a:pt x="129980" y="-364"/>
                </a:lnTo>
                <a:cubicBezTo>
                  <a:pt x="120827" y="-325"/>
                  <a:pt x="113416" y="7086"/>
                  <a:pt x="113377" y="16239"/>
                </a:cubicBezTo>
                <a:lnTo>
                  <a:pt x="113377" y="16239"/>
                </a:lnTo>
                <a:cubicBezTo>
                  <a:pt x="113416" y="25393"/>
                  <a:pt x="120827" y="32804"/>
                  <a:pt x="129980" y="32843"/>
                </a:cubicBezTo>
                <a:lnTo>
                  <a:pt x="186502" y="32843"/>
                </a:lnTo>
                <a:lnTo>
                  <a:pt x="186502" y="393874"/>
                </a:lnTo>
                <a:cubicBezTo>
                  <a:pt x="74780" y="432141"/>
                  <a:pt x="-261" y="537193"/>
                  <a:pt x="-231" y="655286"/>
                </a:cubicBezTo>
                <a:cubicBezTo>
                  <a:pt x="-231" y="807542"/>
                  <a:pt x="109491" y="917264"/>
                  <a:pt x="261676" y="917264"/>
                </a:cubicBezTo>
                <a:cubicBezTo>
                  <a:pt x="413860" y="917264"/>
                  <a:pt x="523583" y="807542"/>
                  <a:pt x="523583" y="655286"/>
                </a:cubicBezTo>
                <a:cubicBezTo>
                  <a:pt x="523644" y="537330"/>
                  <a:pt x="448803" y="432348"/>
                  <a:pt x="337273" y="393945"/>
                </a:cubicBezTo>
                <a:close/>
                <a:moveTo>
                  <a:pt x="261887" y="890770"/>
                </a:moveTo>
                <a:cubicBezTo>
                  <a:pt x="135774" y="890770"/>
                  <a:pt x="26192" y="781118"/>
                  <a:pt x="26192" y="655004"/>
                </a:cubicBezTo>
                <a:cubicBezTo>
                  <a:pt x="26192" y="551499"/>
                  <a:pt x="95926" y="453646"/>
                  <a:pt x="195757" y="427081"/>
                </a:cubicBezTo>
                <a:cubicBezTo>
                  <a:pt x="207926" y="423760"/>
                  <a:pt x="215374" y="411503"/>
                  <a:pt x="212714" y="399173"/>
                </a:cubicBezTo>
                <a:lnTo>
                  <a:pt x="219779" y="32843"/>
                </a:lnTo>
                <a:lnTo>
                  <a:pt x="303996" y="32843"/>
                </a:lnTo>
                <a:lnTo>
                  <a:pt x="311061" y="398608"/>
                </a:lnTo>
                <a:cubicBezTo>
                  <a:pt x="308227" y="411050"/>
                  <a:pt x="315706" y="423514"/>
                  <a:pt x="328018" y="426869"/>
                </a:cubicBezTo>
                <a:cubicBezTo>
                  <a:pt x="427849" y="453434"/>
                  <a:pt x="497583" y="551357"/>
                  <a:pt x="497583" y="654792"/>
                </a:cubicBezTo>
                <a:cubicBezTo>
                  <a:pt x="497583" y="781118"/>
                  <a:pt x="388001" y="890770"/>
                  <a:pt x="261887" y="890770"/>
                </a:cubicBezTo>
                <a:close/>
              </a:path>
            </a:pathLst>
          </a:custGeom>
          <a:solidFill>
            <a:schemeClr val="accent1"/>
          </a:solidFill>
          <a:ln w="6951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4800604" y="197501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456300" y="197501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46764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4676400" y="1929150"/>
            <a:ext cx="4006800" cy="30008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4563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456300" y="1929150"/>
            <a:ext cx="4006800" cy="30008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456300" y="131355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456300" y="1313550"/>
            <a:ext cx="8226900" cy="516278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248" y="1833563"/>
            <a:ext cx="8226743" cy="30432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单圆角矩形 2"/>
          <p:cNvSpPr/>
          <p:nvPr>
            <p:custDataLst>
              <p:tags r:id="rId2"/>
            </p:custDataLst>
          </p:nvPr>
        </p:nvSpPr>
        <p:spPr>
          <a:xfrm>
            <a:off x="0" y="3076367"/>
            <a:ext cx="4189188" cy="2201492"/>
          </a:xfrm>
          <a:prstGeom prst="round1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5" name="矩形 174"/>
          <p:cNvSpPr/>
          <p:nvPr>
            <p:custDataLst>
              <p:tags r:id="rId3"/>
            </p:custDataLst>
          </p:nvPr>
        </p:nvSpPr>
        <p:spPr>
          <a:xfrm>
            <a:off x="-5084" y="5280246"/>
            <a:ext cx="9143999" cy="7205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18624" y="1174909"/>
            <a:ext cx="53816" cy="5381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53403" y="1174909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87705" y="1174909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22008" y="1175385"/>
            <a:ext cx="53816" cy="5381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4189095" y="2030254"/>
            <a:ext cx="4526756" cy="175926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 algn="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03" y="1303080"/>
            <a:ext cx="4024543" cy="4697670"/>
          </a:xfrm>
          <a:prstGeom prst="rect">
            <a:avLst/>
          </a:prstGeom>
        </p:spPr>
      </p:pic>
      <p:sp>
        <p:nvSpPr>
          <p:cNvPr id="7" name="图形 4"/>
          <p:cNvSpPr/>
          <p:nvPr>
            <p:custDataLst>
              <p:tags r:id="rId11"/>
            </p:custDataLst>
          </p:nvPr>
        </p:nvSpPr>
        <p:spPr>
          <a:xfrm>
            <a:off x="970552" y="2355434"/>
            <a:ext cx="3341935" cy="3645316"/>
          </a:xfrm>
          <a:custGeom>
            <a:avLst/>
            <a:gdLst>
              <a:gd name="connsiteX0" fmla="*/ 1384177 w 4455913"/>
              <a:gd name="connsiteY0" fmla="*/ 0 h 4860421"/>
              <a:gd name="connsiteX1" fmla="*/ 1384177 w 4455913"/>
              <a:gd name="connsiteY1" fmla="*/ 50564 h 4860421"/>
              <a:gd name="connsiteX2" fmla="*/ 1845570 w 4455913"/>
              <a:gd name="connsiteY2" fmla="*/ 334984 h 4860421"/>
              <a:gd name="connsiteX3" fmla="*/ 1896133 w 4455913"/>
              <a:gd name="connsiteY3" fmla="*/ 113768 h 4860421"/>
              <a:gd name="connsiteX4" fmla="*/ 1927735 w 4455913"/>
              <a:gd name="connsiteY4" fmla="*/ 113768 h 4860421"/>
              <a:gd name="connsiteX5" fmla="*/ 2022542 w 4455913"/>
              <a:gd name="connsiteY5" fmla="*/ 372906 h 4860421"/>
              <a:gd name="connsiteX6" fmla="*/ 1997260 w 4455913"/>
              <a:gd name="connsiteY6" fmla="*/ 372906 h 4860421"/>
              <a:gd name="connsiteX7" fmla="*/ 1990940 w 4455913"/>
              <a:gd name="connsiteY7" fmla="*/ 556199 h 4860421"/>
              <a:gd name="connsiteX8" fmla="*/ 1978299 w 4455913"/>
              <a:gd name="connsiteY8" fmla="*/ 556199 h 4860421"/>
              <a:gd name="connsiteX9" fmla="*/ 1978299 w 4455913"/>
              <a:gd name="connsiteY9" fmla="*/ 543558 h 4860421"/>
              <a:gd name="connsiteX10" fmla="*/ 1845570 w 4455913"/>
              <a:gd name="connsiteY10" fmla="*/ 353945 h 4860421"/>
              <a:gd name="connsiteX11" fmla="*/ 1845570 w 4455913"/>
              <a:gd name="connsiteY11" fmla="*/ 360265 h 4860421"/>
              <a:gd name="connsiteX12" fmla="*/ 1776045 w 4455913"/>
              <a:gd name="connsiteY12" fmla="*/ 663647 h 4860421"/>
              <a:gd name="connsiteX13" fmla="*/ 1384177 w 4455913"/>
              <a:gd name="connsiteY13" fmla="*/ 360265 h 4860421"/>
              <a:gd name="connsiteX14" fmla="*/ 1396818 w 4455913"/>
              <a:gd name="connsiteY14" fmla="*/ 372906 h 4860421"/>
              <a:gd name="connsiteX15" fmla="*/ 1795006 w 4455913"/>
              <a:gd name="connsiteY15" fmla="*/ 695249 h 4860421"/>
              <a:gd name="connsiteX16" fmla="*/ 1795006 w 4455913"/>
              <a:gd name="connsiteY16" fmla="*/ 682608 h 4860421"/>
              <a:gd name="connsiteX17" fmla="*/ 1851890 w 4455913"/>
              <a:gd name="connsiteY17" fmla="*/ 404508 h 4860421"/>
              <a:gd name="connsiteX18" fmla="*/ 1864531 w 4455913"/>
              <a:gd name="connsiteY18" fmla="*/ 410829 h 4860421"/>
              <a:gd name="connsiteX19" fmla="*/ 2009901 w 4455913"/>
              <a:gd name="connsiteY19" fmla="*/ 613083 h 4860421"/>
              <a:gd name="connsiteX20" fmla="*/ 2009901 w 4455913"/>
              <a:gd name="connsiteY20" fmla="*/ 543558 h 4860421"/>
              <a:gd name="connsiteX21" fmla="*/ 2022542 w 4455913"/>
              <a:gd name="connsiteY21" fmla="*/ 391868 h 4860421"/>
              <a:gd name="connsiteX22" fmla="*/ 2035183 w 4455913"/>
              <a:gd name="connsiteY22" fmla="*/ 391868 h 4860421"/>
              <a:gd name="connsiteX23" fmla="*/ 2047824 w 4455913"/>
              <a:gd name="connsiteY23" fmla="*/ 644685 h 4860421"/>
              <a:gd name="connsiteX24" fmla="*/ 2085747 w 4455913"/>
              <a:gd name="connsiteY24" fmla="*/ 1365216 h 4860421"/>
              <a:gd name="connsiteX25" fmla="*/ 2098388 w 4455913"/>
              <a:gd name="connsiteY25" fmla="*/ 1365216 h 4860421"/>
              <a:gd name="connsiteX26" fmla="*/ 2300642 w 4455913"/>
              <a:gd name="connsiteY26" fmla="*/ 865901 h 4860421"/>
              <a:gd name="connsiteX27" fmla="*/ 2193194 w 4455913"/>
              <a:gd name="connsiteY27" fmla="*/ 752133 h 4860421"/>
              <a:gd name="connsiteX28" fmla="*/ 2193194 w 4455913"/>
              <a:gd name="connsiteY28" fmla="*/ 739492 h 4860421"/>
              <a:gd name="connsiteX29" fmla="*/ 2231117 w 4455913"/>
              <a:gd name="connsiteY29" fmla="*/ 726851 h 4860421"/>
              <a:gd name="connsiteX30" fmla="*/ 2294321 w 4455913"/>
              <a:gd name="connsiteY30" fmla="*/ 739492 h 4860421"/>
              <a:gd name="connsiteX31" fmla="*/ 2269040 w 4455913"/>
              <a:gd name="connsiteY31" fmla="*/ 353945 h 4860421"/>
              <a:gd name="connsiteX32" fmla="*/ 2288001 w 4455913"/>
              <a:gd name="connsiteY32" fmla="*/ 347624 h 4860421"/>
              <a:gd name="connsiteX33" fmla="*/ 2300642 w 4455913"/>
              <a:gd name="connsiteY33" fmla="*/ 391868 h 4860421"/>
              <a:gd name="connsiteX34" fmla="*/ 2325924 w 4455913"/>
              <a:gd name="connsiteY34" fmla="*/ 764774 h 4860421"/>
              <a:gd name="connsiteX35" fmla="*/ 2275360 w 4455913"/>
              <a:gd name="connsiteY35" fmla="*/ 777415 h 4860421"/>
              <a:gd name="connsiteX36" fmla="*/ 2250078 w 4455913"/>
              <a:gd name="connsiteY36" fmla="*/ 771094 h 4860421"/>
              <a:gd name="connsiteX37" fmla="*/ 2332244 w 4455913"/>
              <a:gd name="connsiteY37" fmla="*/ 891183 h 4860421"/>
              <a:gd name="connsiteX38" fmla="*/ 2111028 w 4455913"/>
              <a:gd name="connsiteY38" fmla="*/ 1403139 h 4860421"/>
              <a:gd name="connsiteX39" fmla="*/ 2148951 w 4455913"/>
              <a:gd name="connsiteY39" fmla="*/ 1542188 h 4860421"/>
              <a:gd name="connsiteX40" fmla="*/ 2174233 w 4455913"/>
              <a:gd name="connsiteY40" fmla="*/ 2142631 h 4860421"/>
              <a:gd name="connsiteX41" fmla="*/ 2231117 w 4455913"/>
              <a:gd name="connsiteY41" fmla="*/ 4860422 h 4860421"/>
              <a:gd name="connsiteX42" fmla="*/ 2205835 w 4455913"/>
              <a:gd name="connsiteY42" fmla="*/ 4860422 h 4860421"/>
              <a:gd name="connsiteX43" fmla="*/ 2148951 w 4455913"/>
              <a:gd name="connsiteY43" fmla="*/ 2648266 h 4860421"/>
              <a:gd name="connsiteX44" fmla="*/ 2129990 w 4455913"/>
              <a:gd name="connsiteY44" fmla="*/ 1927735 h 4860421"/>
              <a:gd name="connsiteX45" fmla="*/ 2123669 w 4455913"/>
              <a:gd name="connsiteY45" fmla="*/ 1813967 h 4860421"/>
              <a:gd name="connsiteX46" fmla="*/ 1820288 w 4455913"/>
              <a:gd name="connsiteY46" fmla="*/ 1441061 h 4860421"/>
              <a:gd name="connsiteX47" fmla="*/ 1662277 w 4455913"/>
              <a:gd name="connsiteY47" fmla="*/ 1283050 h 4860421"/>
              <a:gd name="connsiteX48" fmla="*/ 1434741 w 4455913"/>
              <a:gd name="connsiteY48" fmla="*/ 1023912 h 4860421"/>
              <a:gd name="connsiteX49" fmla="*/ 1491625 w 4455913"/>
              <a:gd name="connsiteY49" fmla="*/ 878542 h 4860421"/>
              <a:gd name="connsiteX50" fmla="*/ 1460023 w 4455913"/>
              <a:gd name="connsiteY50" fmla="*/ 878542 h 4860421"/>
              <a:gd name="connsiteX51" fmla="*/ 1327293 w 4455913"/>
              <a:gd name="connsiteY51" fmla="*/ 916464 h 4860421"/>
              <a:gd name="connsiteX52" fmla="*/ 1011271 w 4455913"/>
              <a:gd name="connsiteY52" fmla="*/ 492995 h 4860421"/>
              <a:gd name="connsiteX53" fmla="*/ 884862 w 4455913"/>
              <a:gd name="connsiteY53" fmla="*/ 328663 h 4860421"/>
              <a:gd name="connsiteX54" fmla="*/ 910144 w 4455913"/>
              <a:gd name="connsiteY54" fmla="*/ 328663 h 4860421"/>
              <a:gd name="connsiteX55" fmla="*/ 1339934 w 4455913"/>
              <a:gd name="connsiteY55" fmla="*/ 884862 h 4860421"/>
              <a:gd name="connsiteX56" fmla="*/ 1516907 w 4455913"/>
              <a:gd name="connsiteY56" fmla="*/ 846940 h 4860421"/>
              <a:gd name="connsiteX57" fmla="*/ 1466343 w 4455913"/>
              <a:gd name="connsiteY57" fmla="*/ 1042873 h 4860421"/>
              <a:gd name="connsiteX58" fmla="*/ 1782365 w 4455913"/>
              <a:gd name="connsiteY58" fmla="*/ 1365216 h 4860421"/>
              <a:gd name="connsiteX59" fmla="*/ 2060465 w 4455913"/>
              <a:gd name="connsiteY59" fmla="*/ 1605393 h 4860421"/>
              <a:gd name="connsiteX60" fmla="*/ 2123669 w 4455913"/>
              <a:gd name="connsiteY60" fmla="*/ 1738122 h 4860421"/>
              <a:gd name="connsiteX61" fmla="*/ 1706520 w 4455913"/>
              <a:gd name="connsiteY61" fmla="*/ 865901 h 4860421"/>
              <a:gd name="connsiteX62" fmla="*/ 1238807 w 4455913"/>
              <a:gd name="connsiteY62" fmla="*/ 183293 h 4860421"/>
              <a:gd name="connsiteX63" fmla="*/ 1346255 w 4455913"/>
              <a:gd name="connsiteY63" fmla="*/ 6320 h 4860421"/>
              <a:gd name="connsiteX64" fmla="*/ 4234698 w 4455913"/>
              <a:gd name="connsiteY64" fmla="*/ 587801 h 4860421"/>
              <a:gd name="connsiteX65" fmla="*/ 4253659 w 4455913"/>
              <a:gd name="connsiteY65" fmla="*/ 587801 h 4860421"/>
              <a:gd name="connsiteX66" fmla="*/ 4253659 w 4455913"/>
              <a:gd name="connsiteY66" fmla="*/ 600442 h 4860421"/>
              <a:gd name="connsiteX67" fmla="*/ 4266300 w 4455913"/>
              <a:gd name="connsiteY67" fmla="*/ 663647 h 4860421"/>
              <a:gd name="connsiteX68" fmla="*/ 4455913 w 4455913"/>
              <a:gd name="connsiteY68" fmla="*/ 897503 h 4860421"/>
              <a:gd name="connsiteX69" fmla="*/ 4449593 w 4455913"/>
              <a:gd name="connsiteY69" fmla="*/ 910144 h 4860421"/>
              <a:gd name="connsiteX70" fmla="*/ 4430632 w 4455913"/>
              <a:gd name="connsiteY70" fmla="*/ 916464 h 4860421"/>
              <a:gd name="connsiteX71" fmla="*/ 4234698 w 4455913"/>
              <a:gd name="connsiteY71" fmla="*/ 587801 h 4860421"/>
              <a:gd name="connsiteX72" fmla="*/ 2534498 w 4455913"/>
              <a:gd name="connsiteY72" fmla="*/ 809017 h 4860421"/>
              <a:gd name="connsiteX73" fmla="*/ 2559780 w 4455913"/>
              <a:gd name="connsiteY73" fmla="*/ 809017 h 4860421"/>
              <a:gd name="connsiteX74" fmla="*/ 2629305 w 4455913"/>
              <a:gd name="connsiteY74" fmla="*/ 1030232 h 4860421"/>
              <a:gd name="connsiteX75" fmla="*/ 2717791 w 4455913"/>
              <a:gd name="connsiteY75" fmla="*/ 1934056 h 4860421"/>
              <a:gd name="connsiteX76" fmla="*/ 2711471 w 4455913"/>
              <a:gd name="connsiteY76" fmla="*/ 1934056 h 4860421"/>
              <a:gd name="connsiteX77" fmla="*/ 2616664 w 4455913"/>
              <a:gd name="connsiteY77" fmla="*/ 1750763 h 4860421"/>
              <a:gd name="connsiteX78" fmla="*/ 2622984 w 4455913"/>
              <a:gd name="connsiteY78" fmla="*/ 1516907 h 4860421"/>
              <a:gd name="connsiteX79" fmla="*/ 2591382 w 4455913"/>
              <a:gd name="connsiteY79" fmla="*/ 1004951 h 4860421"/>
              <a:gd name="connsiteX80" fmla="*/ 2534498 w 4455913"/>
              <a:gd name="connsiteY80" fmla="*/ 809017 h 4860421"/>
              <a:gd name="connsiteX81" fmla="*/ 3318233 w 4455913"/>
              <a:gd name="connsiteY81" fmla="*/ 1264089 h 4860421"/>
              <a:gd name="connsiteX82" fmla="*/ 3337195 w 4455913"/>
              <a:gd name="connsiteY82" fmla="*/ 1270409 h 4860421"/>
              <a:gd name="connsiteX83" fmla="*/ 3330874 w 4455913"/>
              <a:gd name="connsiteY83" fmla="*/ 1478984 h 4860421"/>
              <a:gd name="connsiteX84" fmla="*/ 3292951 w 4455913"/>
              <a:gd name="connsiteY84" fmla="*/ 1466343 h 4860421"/>
              <a:gd name="connsiteX85" fmla="*/ 3236067 w 4455913"/>
              <a:gd name="connsiteY85" fmla="*/ 1453702 h 4860421"/>
              <a:gd name="connsiteX86" fmla="*/ 3236067 w 4455913"/>
              <a:gd name="connsiteY86" fmla="*/ 1447382 h 4860421"/>
              <a:gd name="connsiteX87" fmla="*/ 3229747 w 4455913"/>
              <a:gd name="connsiteY87" fmla="*/ 1434741 h 4860421"/>
              <a:gd name="connsiteX88" fmla="*/ 3273990 w 4455913"/>
              <a:gd name="connsiteY88" fmla="*/ 1270409 h 4860421"/>
              <a:gd name="connsiteX89" fmla="*/ 3292951 w 4455913"/>
              <a:gd name="connsiteY89" fmla="*/ 1283050 h 4860421"/>
              <a:gd name="connsiteX90" fmla="*/ 3318233 w 4455913"/>
              <a:gd name="connsiteY90" fmla="*/ 1453702 h 4860421"/>
              <a:gd name="connsiteX91" fmla="*/ 3324554 w 4455913"/>
              <a:gd name="connsiteY91" fmla="*/ 1447382 h 4860421"/>
              <a:gd name="connsiteX92" fmla="*/ 3318233 w 4455913"/>
              <a:gd name="connsiteY92" fmla="*/ 1264089 h 4860421"/>
              <a:gd name="connsiteX93" fmla="*/ 897503 w 4455913"/>
              <a:gd name="connsiteY93" fmla="*/ 1396818 h 4860421"/>
              <a:gd name="connsiteX94" fmla="*/ 922785 w 4455913"/>
              <a:gd name="connsiteY94" fmla="*/ 1409459 h 4860421"/>
              <a:gd name="connsiteX95" fmla="*/ 777415 w 4455913"/>
              <a:gd name="connsiteY95" fmla="*/ 1674918 h 4860421"/>
              <a:gd name="connsiteX96" fmla="*/ 733172 w 4455913"/>
              <a:gd name="connsiteY96" fmla="*/ 1832929 h 4860421"/>
              <a:gd name="connsiteX97" fmla="*/ 707890 w 4455913"/>
              <a:gd name="connsiteY97" fmla="*/ 1681238 h 4860421"/>
              <a:gd name="connsiteX98" fmla="*/ 897503 w 4455913"/>
              <a:gd name="connsiteY98" fmla="*/ 1396818 h 4860421"/>
              <a:gd name="connsiteX99" fmla="*/ 189613 w 4455913"/>
              <a:gd name="connsiteY99" fmla="*/ 2174233 h 4860421"/>
              <a:gd name="connsiteX100" fmla="*/ 284420 w 4455913"/>
              <a:gd name="connsiteY100" fmla="*/ 2186874 h 4860421"/>
              <a:gd name="connsiteX101" fmla="*/ 290740 w 4455913"/>
              <a:gd name="connsiteY101" fmla="*/ 2212156 h 4860421"/>
              <a:gd name="connsiteX102" fmla="*/ 208575 w 4455913"/>
              <a:gd name="connsiteY102" fmla="*/ 2250078 h 4860421"/>
              <a:gd name="connsiteX103" fmla="*/ 297061 w 4455913"/>
              <a:gd name="connsiteY103" fmla="*/ 2275360 h 4860421"/>
              <a:gd name="connsiteX104" fmla="*/ 290740 w 4455913"/>
              <a:gd name="connsiteY104" fmla="*/ 2275360 h 4860421"/>
              <a:gd name="connsiteX105" fmla="*/ 107448 w 4455913"/>
              <a:gd name="connsiteY105" fmla="*/ 2288001 h 4860421"/>
              <a:gd name="connsiteX106" fmla="*/ 94807 w 4455913"/>
              <a:gd name="connsiteY106" fmla="*/ 2262719 h 4860421"/>
              <a:gd name="connsiteX107" fmla="*/ 101127 w 4455913"/>
              <a:gd name="connsiteY107" fmla="*/ 2262719 h 4860421"/>
              <a:gd name="connsiteX108" fmla="*/ 227536 w 4455913"/>
              <a:gd name="connsiteY108" fmla="*/ 2205835 h 4860421"/>
              <a:gd name="connsiteX109" fmla="*/ 6320 w 4455913"/>
              <a:gd name="connsiteY109" fmla="*/ 2243758 h 4860421"/>
              <a:gd name="connsiteX110" fmla="*/ 0 w 4455913"/>
              <a:gd name="connsiteY110" fmla="*/ 2218476 h 4860421"/>
              <a:gd name="connsiteX111" fmla="*/ 12641 w 4455913"/>
              <a:gd name="connsiteY111" fmla="*/ 2218476 h 4860421"/>
              <a:gd name="connsiteX112" fmla="*/ 189613 w 4455913"/>
              <a:gd name="connsiteY112" fmla="*/ 2174233 h 4860421"/>
              <a:gd name="connsiteX113" fmla="*/ 720531 w 4455913"/>
              <a:gd name="connsiteY113" fmla="*/ 2673548 h 4860421"/>
              <a:gd name="connsiteX114" fmla="*/ 739492 w 4455913"/>
              <a:gd name="connsiteY114" fmla="*/ 2673548 h 4860421"/>
              <a:gd name="connsiteX115" fmla="*/ 834299 w 4455913"/>
              <a:gd name="connsiteY115" fmla="*/ 2780995 h 4860421"/>
              <a:gd name="connsiteX116" fmla="*/ 809017 w 4455913"/>
              <a:gd name="connsiteY116" fmla="*/ 2787316 h 4860421"/>
              <a:gd name="connsiteX117" fmla="*/ 714210 w 4455913"/>
              <a:gd name="connsiteY117" fmla="*/ 2692509 h 4860421"/>
              <a:gd name="connsiteX118" fmla="*/ 764774 w 4455913"/>
              <a:gd name="connsiteY118" fmla="*/ 2793636 h 4860421"/>
              <a:gd name="connsiteX119" fmla="*/ 783735 w 4455913"/>
              <a:gd name="connsiteY119" fmla="*/ 2799957 h 4860421"/>
              <a:gd name="connsiteX120" fmla="*/ 790056 w 4455913"/>
              <a:gd name="connsiteY120" fmla="*/ 2818918 h 4860421"/>
              <a:gd name="connsiteX121" fmla="*/ 758453 w 4455913"/>
              <a:gd name="connsiteY121" fmla="*/ 3153902 h 4860421"/>
              <a:gd name="connsiteX122" fmla="*/ 790056 w 4455913"/>
              <a:gd name="connsiteY122" fmla="*/ 3185504 h 4860421"/>
              <a:gd name="connsiteX123" fmla="*/ 758453 w 4455913"/>
              <a:gd name="connsiteY123" fmla="*/ 3191824 h 4860421"/>
              <a:gd name="connsiteX124" fmla="*/ 745812 w 4455913"/>
              <a:gd name="connsiteY124" fmla="*/ 3185504 h 4860421"/>
              <a:gd name="connsiteX125" fmla="*/ 764774 w 4455913"/>
              <a:gd name="connsiteY125" fmla="*/ 2793636 h 4860421"/>
              <a:gd name="connsiteX126" fmla="*/ 872221 w 4455913"/>
              <a:gd name="connsiteY126" fmla="*/ 3097018 h 4860421"/>
              <a:gd name="connsiteX127" fmla="*/ 651006 w 4455913"/>
              <a:gd name="connsiteY127" fmla="*/ 3248708 h 4860421"/>
              <a:gd name="connsiteX128" fmla="*/ 651006 w 4455913"/>
              <a:gd name="connsiteY128" fmla="*/ 3223427 h 4860421"/>
              <a:gd name="connsiteX129" fmla="*/ 872221 w 4455913"/>
              <a:gd name="connsiteY129" fmla="*/ 3097018 h 4860421"/>
              <a:gd name="connsiteX130" fmla="*/ 840619 w 4455913"/>
              <a:gd name="connsiteY130" fmla="*/ 3558410 h 4860421"/>
              <a:gd name="connsiteX131" fmla="*/ 1150321 w 4455913"/>
              <a:gd name="connsiteY131" fmla="*/ 3590012 h 4860421"/>
              <a:gd name="connsiteX132" fmla="*/ 1497945 w 4455913"/>
              <a:gd name="connsiteY132" fmla="*/ 3577371 h 4860421"/>
              <a:gd name="connsiteX133" fmla="*/ 1504266 w 4455913"/>
              <a:gd name="connsiteY133" fmla="*/ 3583692 h 4860421"/>
              <a:gd name="connsiteX134" fmla="*/ 1504266 w 4455913"/>
              <a:gd name="connsiteY134" fmla="*/ 3596333 h 4860421"/>
              <a:gd name="connsiteX135" fmla="*/ 1403139 w 4455913"/>
              <a:gd name="connsiteY135" fmla="*/ 3608974 h 4860421"/>
              <a:gd name="connsiteX136" fmla="*/ 853260 w 4455913"/>
              <a:gd name="connsiteY136" fmla="*/ 3590012 h 4860421"/>
              <a:gd name="connsiteX137" fmla="*/ 840619 w 4455913"/>
              <a:gd name="connsiteY137" fmla="*/ 3558410 h 4860421"/>
              <a:gd name="connsiteX138" fmla="*/ 1491625 w 4455913"/>
              <a:gd name="connsiteY138" fmla="*/ 3697460 h 4860421"/>
              <a:gd name="connsiteX139" fmla="*/ 1510586 w 4455913"/>
              <a:gd name="connsiteY139" fmla="*/ 3703780 h 4860421"/>
              <a:gd name="connsiteX140" fmla="*/ 1516907 w 4455913"/>
              <a:gd name="connsiteY140" fmla="*/ 4026123 h 4860421"/>
              <a:gd name="connsiteX141" fmla="*/ 1472664 w 4455913"/>
              <a:gd name="connsiteY141" fmla="*/ 4342145 h 4860421"/>
              <a:gd name="connsiteX142" fmla="*/ 910144 w 4455913"/>
              <a:gd name="connsiteY142" fmla="*/ 4329504 h 4860421"/>
              <a:gd name="connsiteX143" fmla="*/ 903824 w 4455913"/>
              <a:gd name="connsiteY143" fmla="*/ 4304223 h 4860421"/>
              <a:gd name="connsiteX144" fmla="*/ 948067 w 4455913"/>
              <a:gd name="connsiteY144" fmla="*/ 4304223 h 4860421"/>
              <a:gd name="connsiteX145" fmla="*/ 1460023 w 4455913"/>
              <a:gd name="connsiteY145" fmla="*/ 4310543 h 4860421"/>
              <a:gd name="connsiteX146" fmla="*/ 1485304 w 4455913"/>
              <a:gd name="connsiteY146" fmla="*/ 3994521 h 4860421"/>
              <a:gd name="connsiteX147" fmla="*/ 1491625 w 4455913"/>
              <a:gd name="connsiteY147" fmla="*/ 3697460 h 4860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4455913" h="4860421">
                <a:moveTo>
                  <a:pt x="1384177" y="0"/>
                </a:moveTo>
                <a:lnTo>
                  <a:pt x="1384177" y="50564"/>
                </a:lnTo>
                <a:cubicBezTo>
                  <a:pt x="1412341" y="121106"/>
                  <a:pt x="1752343" y="321331"/>
                  <a:pt x="1845570" y="334984"/>
                </a:cubicBezTo>
                <a:cubicBezTo>
                  <a:pt x="1885262" y="270035"/>
                  <a:pt x="1915815" y="206451"/>
                  <a:pt x="1896133" y="113768"/>
                </a:cubicBezTo>
                <a:lnTo>
                  <a:pt x="1927735" y="113768"/>
                </a:lnTo>
                <a:cubicBezTo>
                  <a:pt x="1964129" y="193462"/>
                  <a:pt x="2018345" y="265092"/>
                  <a:pt x="2022542" y="372906"/>
                </a:cubicBezTo>
                <a:lnTo>
                  <a:pt x="1997260" y="372906"/>
                </a:lnTo>
                <a:cubicBezTo>
                  <a:pt x="1995154" y="434004"/>
                  <a:pt x="1993047" y="495102"/>
                  <a:pt x="1990940" y="556199"/>
                </a:cubicBezTo>
                <a:lnTo>
                  <a:pt x="1978299" y="556199"/>
                </a:lnTo>
                <a:lnTo>
                  <a:pt x="1978299" y="543558"/>
                </a:lnTo>
                <a:cubicBezTo>
                  <a:pt x="1935282" y="494613"/>
                  <a:pt x="1905778" y="381831"/>
                  <a:pt x="1845570" y="353945"/>
                </a:cubicBezTo>
                <a:lnTo>
                  <a:pt x="1845570" y="360265"/>
                </a:lnTo>
                <a:lnTo>
                  <a:pt x="1776045" y="663647"/>
                </a:lnTo>
                <a:cubicBezTo>
                  <a:pt x="1664950" y="602420"/>
                  <a:pt x="1495228" y="385256"/>
                  <a:pt x="1384177" y="360265"/>
                </a:cubicBezTo>
                <a:cubicBezTo>
                  <a:pt x="1384177" y="366586"/>
                  <a:pt x="1396818" y="366586"/>
                  <a:pt x="1396818" y="372906"/>
                </a:cubicBezTo>
                <a:cubicBezTo>
                  <a:pt x="1529048" y="465185"/>
                  <a:pt x="1663813" y="662079"/>
                  <a:pt x="1795006" y="695249"/>
                </a:cubicBezTo>
                <a:lnTo>
                  <a:pt x="1795006" y="682608"/>
                </a:lnTo>
                <a:cubicBezTo>
                  <a:pt x="1813968" y="589908"/>
                  <a:pt x="1832929" y="497208"/>
                  <a:pt x="1851890" y="404508"/>
                </a:cubicBezTo>
                <a:cubicBezTo>
                  <a:pt x="1868747" y="404508"/>
                  <a:pt x="1864531" y="402404"/>
                  <a:pt x="1864531" y="410829"/>
                </a:cubicBezTo>
                <a:cubicBezTo>
                  <a:pt x="1909021" y="461020"/>
                  <a:pt x="1943998" y="589874"/>
                  <a:pt x="2009901" y="613083"/>
                </a:cubicBezTo>
                <a:lnTo>
                  <a:pt x="2009901" y="543558"/>
                </a:lnTo>
                <a:cubicBezTo>
                  <a:pt x="2014115" y="492995"/>
                  <a:pt x="2018329" y="442431"/>
                  <a:pt x="2022542" y="391868"/>
                </a:cubicBezTo>
                <a:lnTo>
                  <a:pt x="2035183" y="391868"/>
                </a:lnTo>
                <a:cubicBezTo>
                  <a:pt x="2035183" y="386647"/>
                  <a:pt x="2031587" y="553266"/>
                  <a:pt x="2047824" y="644685"/>
                </a:cubicBezTo>
                <a:cubicBezTo>
                  <a:pt x="2081322" y="833142"/>
                  <a:pt x="2023465" y="1228530"/>
                  <a:pt x="2085747" y="1365216"/>
                </a:cubicBezTo>
                <a:lnTo>
                  <a:pt x="2098388" y="1365216"/>
                </a:lnTo>
                <a:cubicBezTo>
                  <a:pt x="2144299" y="1194564"/>
                  <a:pt x="2282395" y="1050610"/>
                  <a:pt x="2300642" y="865901"/>
                </a:cubicBezTo>
                <a:lnTo>
                  <a:pt x="2193194" y="752133"/>
                </a:lnTo>
                <a:lnTo>
                  <a:pt x="2193194" y="739492"/>
                </a:lnTo>
                <a:cubicBezTo>
                  <a:pt x="2210702" y="732729"/>
                  <a:pt x="2206966" y="730814"/>
                  <a:pt x="2231117" y="726851"/>
                </a:cubicBezTo>
                <a:cubicBezTo>
                  <a:pt x="2245951" y="738999"/>
                  <a:pt x="2280195" y="745029"/>
                  <a:pt x="2294321" y="739492"/>
                </a:cubicBezTo>
                <a:cubicBezTo>
                  <a:pt x="2334361" y="659854"/>
                  <a:pt x="2277307" y="432318"/>
                  <a:pt x="2269040" y="353945"/>
                </a:cubicBezTo>
                <a:cubicBezTo>
                  <a:pt x="2277465" y="345520"/>
                  <a:pt x="2271144" y="347624"/>
                  <a:pt x="2288001" y="347624"/>
                </a:cubicBezTo>
                <a:cubicBezTo>
                  <a:pt x="2296066" y="363204"/>
                  <a:pt x="2298569" y="365549"/>
                  <a:pt x="2300642" y="391868"/>
                </a:cubicBezTo>
                <a:cubicBezTo>
                  <a:pt x="2349233" y="468863"/>
                  <a:pt x="2332396" y="663242"/>
                  <a:pt x="2325924" y="764774"/>
                </a:cubicBezTo>
                <a:cubicBezTo>
                  <a:pt x="2309560" y="773262"/>
                  <a:pt x="2303853" y="776252"/>
                  <a:pt x="2275360" y="777415"/>
                </a:cubicBezTo>
                <a:cubicBezTo>
                  <a:pt x="2241653" y="760558"/>
                  <a:pt x="2250078" y="762669"/>
                  <a:pt x="2250078" y="771094"/>
                </a:cubicBezTo>
                <a:cubicBezTo>
                  <a:pt x="2284322" y="800630"/>
                  <a:pt x="2326214" y="833806"/>
                  <a:pt x="2332244" y="891183"/>
                </a:cubicBezTo>
                <a:cubicBezTo>
                  <a:pt x="2258506" y="1061835"/>
                  <a:pt x="2184767" y="1232487"/>
                  <a:pt x="2111028" y="1403139"/>
                </a:cubicBezTo>
                <a:cubicBezTo>
                  <a:pt x="2111028" y="1403139"/>
                  <a:pt x="2145715" y="1519485"/>
                  <a:pt x="2148951" y="1542188"/>
                </a:cubicBezTo>
                <a:cubicBezTo>
                  <a:pt x="2157378" y="1742315"/>
                  <a:pt x="2165806" y="1942462"/>
                  <a:pt x="2174233" y="2142631"/>
                </a:cubicBezTo>
                <a:cubicBezTo>
                  <a:pt x="2193194" y="3048468"/>
                  <a:pt x="2212156" y="3954398"/>
                  <a:pt x="2231117" y="4860422"/>
                </a:cubicBezTo>
                <a:lnTo>
                  <a:pt x="2205835" y="4860422"/>
                </a:lnTo>
                <a:cubicBezTo>
                  <a:pt x="2186874" y="4123112"/>
                  <a:pt x="2167912" y="3385727"/>
                  <a:pt x="2148951" y="2648266"/>
                </a:cubicBezTo>
                <a:cubicBezTo>
                  <a:pt x="2142631" y="2408115"/>
                  <a:pt x="2136310" y="2167938"/>
                  <a:pt x="2129990" y="1927735"/>
                </a:cubicBezTo>
                <a:cubicBezTo>
                  <a:pt x="2127883" y="1889813"/>
                  <a:pt x="2125776" y="1851890"/>
                  <a:pt x="2123669" y="1813967"/>
                </a:cubicBezTo>
                <a:cubicBezTo>
                  <a:pt x="2056951" y="1638259"/>
                  <a:pt x="1954724" y="1546290"/>
                  <a:pt x="1820288" y="1441061"/>
                </a:cubicBezTo>
                <a:lnTo>
                  <a:pt x="1662277" y="1283050"/>
                </a:lnTo>
                <a:cubicBezTo>
                  <a:pt x="1588795" y="1225477"/>
                  <a:pt x="1454480" y="1128048"/>
                  <a:pt x="1434741" y="1023912"/>
                </a:cubicBezTo>
                <a:lnTo>
                  <a:pt x="1491625" y="878542"/>
                </a:lnTo>
                <a:lnTo>
                  <a:pt x="1460023" y="878542"/>
                </a:lnTo>
                <a:cubicBezTo>
                  <a:pt x="1428307" y="899545"/>
                  <a:pt x="1372801" y="913304"/>
                  <a:pt x="1327293" y="916464"/>
                </a:cubicBezTo>
                <a:cubicBezTo>
                  <a:pt x="1227013" y="774381"/>
                  <a:pt x="1116614" y="634415"/>
                  <a:pt x="1011271" y="492995"/>
                </a:cubicBezTo>
                <a:cubicBezTo>
                  <a:pt x="974499" y="443626"/>
                  <a:pt x="897434" y="397069"/>
                  <a:pt x="884862" y="328663"/>
                </a:cubicBezTo>
                <a:lnTo>
                  <a:pt x="910144" y="328663"/>
                </a:lnTo>
                <a:cubicBezTo>
                  <a:pt x="1040516" y="519541"/>
                  <a:pt x="1203944" y="696298"/>
                  <a:pt x="1339934" y="884862"/>
                </a:cubicBezTo>
                <a:cubicBezTo>
                  <a:pt x="1396281" y="865812"/>
                  <a:pt x="1444854" y="848381"/>
                  <a:pt x="1516907" y="846940"/>
                </a:cubicBezTo>
                <a:cubicBezTo>
                  <a:pt x="1539079" y="909752"/>
                  <a:pt x="1475369" y="969392"/>
                  <a:pt x="1466343" y="1042873"/>
                </a:cubicBezTo>
                <a:cubicBezTo>
                  <a:pt x="1579232" y="1139342"/>
                  <a:pt x="1664805" y="1273077"/>
                  <a:pt x="1782365" y="1365216"/>
                </a:cubicBezTo>
                <a:lnTo>
                  <a:pt x="2060465" y="1605393"/>
                </a:lnTo>
                <a:lnTo>
                  <a:pt x="2123669" y="1738122"/>
                </a:lnTo>
                <a:cubicBezTo>
                  <a:pt x="2133782" y="1326567"/>
                  <a:pt x="1884314" y="1114256"/>
                  <a:pt x="1706520" y="865901"/>
                </a:cubicBezTo>
                <a:cubicBezTo>
                  <a:pt x="1554147" y="653060"/>
                  <a:pt x="1412234" y="370536"/>
                  <a:pt x="1238807" y="183293"/>
                </a:cubicBezTo>
                <a:cubicBezTo>
                  <a:pt x="1251511" y="134272"/>
                  <a:pt x="1300311" y="22558"/>
                  <a:pt x="1346255" y="6320"/>
                </a:cubicBezTo>
                <a:close/>
                <a:moveTo>
                  <a:pt x="4234698" y="587801"/>
                </a:moveTo>
                <a:lnTo>
                  <a:pt x="4253659" y="587801"/>
                </a:lnTo>
                <a:lnTo>
                  <a:pt x="4253659" y="600442"/>
                </a:lnTo>
                <a:cubicBezTo>
                  <a:pt x="4257873" y="621510"/>
                  <a:pt x="4262086" y="642578"/>
                  <a:pt x="4266300" y="663647"/>
                </a:cubicBezTo>
                <a:cubicBezTo>
                  <a:pt x="4298427" y="750641"/>
                  <a:pt x="4388569" y="841485"/>
                  <a:pt x="4455913" y="897503"/>
                </a:cubicBezTo>
                <a:cubicBezTo>
                  <a:pt x="4453807" y="901717"/>
                  <a:pt x="4451700" y="905930"/>
                  <a:pt x="4449593" y="910144"/>
                </a:cubicBezTo>
                <a:lnTo>
                  <a:pt x="4430632" y="916464"/>
                </a:lnTo>
                <a:cubicBezTo>
                  <a:pt x="4370941" y="844772"/>
                  <a:pt x="4196560" y="721871"/>
                  <a:pt x="4234698" y="587801"/>
                </a:cubicBezTo>
                <a:close/>
                <a:moveTo>
                  <a:pt x="2534498" y="809017"/>
                </a:moveTo>
                <a:lnTo>
                  <a:pt x="2559780" y="809017"/>
                </a:lnTo>
                <a:cubicBezTo>
                  <a:pt x="2582955" y="882755"/>
                  <a:pt x="2606130" y="956494"/>
                  <a:pt x="2629305" y="1030232"/>
                </a:cubicBezTo>
                <a:cubicBezTo>
                  <a:pt x="2704518" y="1301379"/>
                  <a:pt x="2715927" y="1602865"/>
                  <a:pt x="2717791" y="1934056"/>
                </a:cubicBezTo>
                <a:lnTo>
                  <a:pt x="2711471" y="1934056"/>
                </a:lnTo>
                <a:cubicBezTo>
                  <a:pt x="2637174" y="1883436"/>
                  <a:pt x="2611905" y="1885806"/>
                  <a:pt x="2616664" y="1750763"/>
                </a:cubicBezTo>
                <a:cubicBezTo>
                  <a:pt x="2618771" y="1672811"/>
                  <a:pt x="2620878" y="1594859"/>
                  <a:pt x="2622984" y="1516907"/>
                </a:cubicBezTo>
                <a:cubicBezTo>
                  <a:pt x="2622984" y="1335952"/>
                  <a:pt x="2634178" y="1151585"/>
                  <a:pt x="2591382" y="1004951"/>
                </a:cubicBezTo>
                <a:cubicBezTo>
                  <a:pt x="2574715" y="947839"/>
                  <a:pt x="2528538" y="858689"/>
                  <a:pt x="2534498" y="809017"/>
                </a:cubicBezTo>
                <a:close/>
                <a:moveTo>
                  <a:pt x="3318233" y="1264089"/>
                </a:moveTo>
                <a:lnTo>
                  <a:pt x="3337195" y="1270409"/>
                </a:lnTo>
                <a:cubicBezTo>
                  <a:pt x="3370693" y="1309748"/>
                  <a:pt x="3379390" y="1449910"/>
                  <a:pt x="3330874" y="1478984"/>
                </a:cubicBezTo>
                <a:cubicBezTo>
                  <a:pt x="3288736" y="1487409"/>
                  <a:pt x="3301377" y="1491625"/>
                  <a:pt x="3292951" y="1466343"/>
                </a:cubicBezTo>
                <a:cubicBezTo>
                  <a:pt x="3278004" y="1137528"/>
                  <a:pt x="3293147" y="1428572"/>
                  <a:pt x="3236067" y="1453702"/>
                </a:cubicBezTo>
                <a:lnTo>
                  <a:pt x="3236067" y="1447382"/>
                </a:lnTo>
                <a:cubicBezTo>
                  <a:pt x="3233961" y="1443168"/>
                  <a:pt x="3231854" y="1438954"/>
                  <a:pt x="3229747" y="1434741"/>
                </a:cubicBezTo>
                <a:cubicBezTo>
                  <a:pt x="3258328" y="1398601"/>
                  <a:pt x="3254801" y="1314570"/>
                  <a:pt x="3273990" y="1270409"/>
                </a:cubicBezTo>
                <a:cubicBezTo>
                  <a:pt x="3290847" y="1270409"/>
                  <a:pt x="3284526" y="1266194"/>
                  <a:pt x="3292951" y="1283050"/>
                </a:cubicBezTo>
                <a:cubicBezTo>
                  <a:pt x="3318233" y="1323040"/>
                  <a:pt x="3303127" y="1401381"/>
                  <a:pt x="3318233" y="1453702"/>
                </a:cubicBezTo>
                <a:lnTo>
                  <a:pt x="3324554" y="1447382"/>
                </a:lnTo>
                <a:cubicBezTo>
                  <a:pt x="3362293" y="1396578"/>
                  <a:pt x="3316489" y="1297998"/>
                  <a:pt x="3318233" y="1264089"/>
                </a:cubicBezTo>
                <a:close/>
                <a:moveTo>
                  <a:pt x="897503" y="1396818"/>
                </a:moveTo>
                <a:lnTo>
                  <a:pt x="922785" y="1409459"/>
                </a:lnTo>
                <a:cubicBezTo>
                  <a:pt x="880046" y="1500669"/>
                  <a:pt x="809529" y="1571661"/>
                  <a:pt x="777415" y="1674918"/>
                </a:cubicBezTo>
                <a:cubicBezTo>
                  <a:pt x="762031" y="1724375"/>
                  <a:pt x="769615" y="1804569"/>
                  <a:pt x="733172" y="1832929"/>
                </a:cubicBezTo>
                <a:cubicBezTo>
                  <a:pt x="728747" y="1782782"/>
                  <a:pt x="690559" y="1724217"/>
                  <a:pt x="707890" y="1681238"/>
                </a:cubicBezTo>
                <a:cubicBezTo>
                  <a:pt x="749605" y="1593700"/>
                  <a:pt x="842022" y="1485159"/>
                  <a:pt x="897503" y="1396818"/>
                </a:cubicBezTo>
                <a:close/>
                <a:moveTo>
                  <a:pt x="189613" y="2174233"/>
                </a:moveTo>
                <a:cubicBezTo>
                  <a:pt x="229356" y="2173108"/>
                  <a:pt x="259182" y="2176761"/>
                  <a:pt x="284420" y="2186874"/>
                </a:cubicBezTo>
                <a:lnTo>
                  <a:pt x="290740" y="2212156"/>
                </a:lnTo>
                <a:lnTo>
                  <a:pt x="208575" y="2250078"/>
                </a:lnTo>
                <a:cubicBezTo>
                  <a:pt x="253949" y="2247139"/>
                  <a:pt x="282865" y="2244744"/>
                  <a:pt x="297061" y="2275360"/>
                </a:cubicBezTo>
                <a:lnTo>
                  <a:pt x="290740" y="2275360"/>
                </a:lnTo>
                <a:lnTo>
                  <a:pt x="107448" y="2288001"/>
                </a:lnTo>
                <a:cubicBezTo>
                  <a:pt x="103234" y="2279574"/>
                  <a:pt x="99020" y="2271146"/>
                  <a:pt x="94807" y="2262719"/>
                </a:cubicBezTo>
                <a:lnTo>
                  <a:pt x="101127" y="2262719"/>
                </a:lnTo>
                <a:cubicBezTo>
                  <a:pt x="125145" y="2224165"/>
                  <a:pt x="188583" y="2229094"/>
                  <a:pt x="227536" y="2205835"/>
                </a:cubicBezTo>
                <a:cubicBezTo>
                  <a:pt x="140535" y="2205488"/>
                  <a:pt x="84125" y="2234909"/>
                  <a:pt x="6320" y="2243758"/>
                </a:cubicBezTo>
                <a:lnTo>
                  <a:pt x="0" y="2218476"/>
                </a:lnTo>
                <a:lnTo>
                  <a:pt x="12641" y="2218476"/>
                </a:lnTo>
                <a:cubicBezTo>
                  <a:pt x="59539" y="2188605"/>
                  <a:pt x="136629" y="2201341"/>
                  <a:pt x="189613" y="2174233"/>
                </a:cubicBezTo>
                <a:close/>
                <a:moveTo>
                  <a:pt x="720531" y="2673548"/>
                </a:moveTo>
                <a:lnTo>
                  <a:pt x="739492" y="2673548"/>
                </a:lnTo>
                <a:cubicBezTo>
                  <a:pt x="752853" y="2692206"/>
                  <a:pt x="843602" y="2772507"/>
                  <a:pt x="834299" y="2780995"/>
                </a:cubicBezTo>
                <a:lnTo>
                  <a:pt x="809017" y="2787316"/>
                </a:lnTo>
                <a:lnTo>
                  <a:pt x="714210" y="2692509"/>
                </a:lnTo>
                <a:close/>
                <a:moveTo>
                  <a:pt x="764774" y="2793636"/>
                </a:moveTo>
                <a:lnTo>
                  <a:pt x="783735" y="2799957"/>
                </a:lnTo>
                <a:lnTo>
                  <a:pt x="790056" y="2818918"/>
                </a:lnTo>
                <a:cubicBezTo>
                  <a:pt x="738392" y="2897544"/>
                  <a:pt x="747759" y="3052143"/>
                  <a:pt x="758453" y="3153902"/>
                </a:cubicBezTo>
                <a:cubicBezTo>
                  <a:pt x="780916" y="3162074"/>
                  <a:pt x="782313" y="3161568"/>
                  <a:pt x="790056" y="3185504"/>
                </a:cubicBezTo>
                <a:lnTo>
                  <a:pt x="758453" y="3191824"/>
                </a:lnTo>
                <a:lnTo>
                  <a:pt x="745812" y="3185504"/>
                </a:lnTo>
                <a:cubicBezTo>
                  <a:pt x="690660" y="3075199"/>
                  <a:pt x="734865" y="2895768"/>
                  <a:pt x="764774" y="2793636"/>
                </a:cubicBezTo>
                <a:close/>
                <a:moveTo>
                  <a:pt x="872221" y="3097018"/>
                </a:moveTo>
                <a:cubicBezTo>
                  <a:pt x="870173" y="3216955"/>
                  <a:pt x="771271" y="3262803"/>
                  <a:pt x="651006" y="3248708"/>
                </a:cubicBezTo>
                <a:lnTo>
                  <a:pt x="651006" y="3223427"/>
                </a:lnTo>
                <a:cubicBezTo>
                  <a:pt x="857052" y="3224691"/>
                  <a:pt x="786320" y="3121712"/>
                  <a:pt x="872221" y="3097018"/>
                </a:cubicBezTo>
                <a:close/>
                <a:moveTo>
                  <a:pt x="840619" y="3558410"/>
                </a:moveTo>
                <a:lnTo>
                  <a:pt x="1150321" y="3590012"/>
                </a:lnTo>
                <a:lnTo>
                  <a:pt x="1497945" y="3577371"/>
                </a:lnTo>
                <a:lnTo>
                  <a:pt x="1504266" y="3583692"/>
                </a:lnTo>
                <a:lnTo>
                  <a:pt x="1504266" y="3596333"/>
                </a:lnTo>
                <a:cubicBezTo>
                  <a:pt x="1480362" y="3608601"/>
                  <a:pt x="1443823" y="3609960"/>
                  <a:pt x="1403139" y="3608974"/>
                </a:cubicBezTo>
                <a:cubicBezTo>
                  <a:pt x="1283335" y="3668563"/>
                  <a:pt x="972716" y="3598570"/>
                  <a:pt x="853260" y="3590012"/>
                </a:cubicBezTo>
                <a:cubicBezTo>
                  <a:pt x="846307" y="3576740"/>
                  <a:pt x="845043" y="3578003"/>
                  <a:pt x="840619" y="3558410"/>
                </a:cubicBezTo>
                <a:close/>
                <a:moveTo>
                  <a:pt x="1491625" y="3697460"/>
                </a:moveTo>
                <a:lnTo>
                  <a:pt x="1510586" y="3703780"/>
                </a:lnTo>
                <a:cubicBezTo>
                  <a:pt x="1512693" y="3811228"/>
                  <a:pt x="1514800" y="3918675"/>
                  <a:pt x="1516907" y="4026123"/>
                </a:cubicBezTo>
                <a:cubicBezTo>
                  <a:pt x="1481512" y="4102979"/>
                  <a:pt x="1512969" y="4256510"/>
                  <a:pt x="1472664" y="4342145"/>
                </a:cubicBezTo>
                <a:cubicBezTo>
                  <a:pt x="1300021" y="4363148"/>
                  <a:pt x="1071853" y="4369121"/>
                  <a:pt x="910144" y="4329504"/>
                </a:cubicBezTo>
                <a:lnTo>
                  <a:pt x="903824" y="4304223"/>
                </a:lnTo>
                <a:lnTo>
                  <a:pt x="948067" y="4304223"/>
                </a:lnTo>
                <a:cubicBezTo>
                  <a:pt x="1013483" y="4345900"/>
                  <a:pt x="1383672" y="4338012"/>
                  <a:pt x="1460023" y="4310543"/>
                </a:cubicBezTo>
                <a:cubicBezTo>
                  <a:pt x="1468450" y="4205202"/>
                  <a:pt x="1476877" y="4099862"/>
                  <a:pt x="1485304" y="3994521"/>
                </a:cubicBezTo>
                <a:cubicBezTo>
                  <a:pt x="1487411" y="3895500"/>
                  <a:pt x="1489518" y="3796480"/>
                  <a:pt x="1491625" y="3697460"/>
                </a:cubicBezTo>
                <a:close/>
              </a:path>
            </a:pathLst>
          </a:custGeom>
          <a:solidFill>
            <a:schemeClr val="accent1"/>
          </a:solidFill>
          <a:ln w="6316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5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4189095" y="3953345"/>
            <a:ext cx="4526756" cy="631990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500" spc="0" baseline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95.xml"/><Relationship Id="rId20" Type="http://schemas.openxmlformats.org/officeDocument/2006/relationships/tags" Target="../tags/tag9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3.xml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3"/>
            </p:custDataLst>
          </p:nvPr>
        </p:nvSpPr>
        <p:spPr>
          <a:xfrm>
            <a:off x="3743861" y="5782628"/>
            <a:ext cx="5400000" cy="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14"/>
            </p:custDataLst>
          </p:nvPr>
        </p:nvSpPr>
        <p:spPr>
          <a:xfrm>
            <a:off x="410324" y="1252049"/>
            <a:ext cx="423386" cy="423386"/>
          </a:xfrm>
          <a:prstGeom prst="ellipse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521970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6565487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21"/>
            <p:custDataLst>
              <p:tags r:id="rId18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2400" b="0" i="0" u="none" strike="noStrike" kern="1200" cap="none" spc="0" normalizeH="0" baseline="0" dirty="0" smtClean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MiSans Normal" panose="00000500000000000000" charset="-122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MiSans Normal" panose="00000500000000000000" charset="-122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MiSans Normal" panose="00000500000000000000" charset="-122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MiSans Normal" panose="00000500000000000000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01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13.xml"/><Relationship Id="rId4" Type="http://schemas.openxmlformats.org/officeDocument/2006/relationships/image" Target="../media/image8.png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17.xml"/><Relationship Id="rId4" Type="http://schemas.openxmlformats.org/officeDocument/2006/relationships/image" Target="../media/image9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0.xml"/><Relationship Id="rId3" Type="http://schemas.openxmlformats.org/officeDocument/2006/relationships/image" Target="../media/image10.pn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27.xml"/><Relationship Id="rId4" Type="http://schemas.openxmlformats.org/officeDocument/2006/relationships/image" Target="../media/image11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31.xml"/><Relationship Id="rId4" Type="http://schemas.openxmlformats.org/officeDocument/2006/relationships/image" Target="../media/image12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35.xml"/><Relationship Id="rId4" Type="http://schemas.openxmlformats.org/officeDocument/2006/relationships/image" Target="../media/image13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39.xml"/><Relationship Id="rId4" Type="http://schemas.openxmlformats.org/officeDocument/2006/relationships/image" Target="../media/image14.png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43.xml"/><Relationship Id="rId4" Type="http://schemas.openxmlformats.org/officeDocument/2006/relationships/image" Target="../media/image15.png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4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51.xml"/><Relationship Id="rId5" Type="http://schemas.openxmlformats.org/officeDocument/2006/relationships/image" Target="../media/image11.png"/><Relationship Id="rId4" Type="http://schemas.openxmlformats.org/officeDocument/2006/relationships/image" Target="../media/image18.pn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5.xml"/><Relationship Id="rId4" Type="http://schemas.openxmlformats.org/officeDocument/2006/relationships/image" Target="../media/image19.png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9.xml"/><Relationship Id="rId4" Type="http://schemas.openxmlformats.org/officeDocument/2006/relationships/image" Target="../media/image20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63.xml"/><Relationship Id="rId4" Type="http://schemas.openxmlformats.org/officeDocument/2006/relationships/image" Target="../media/image21.png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67.xml"/><Relationship Id="rId4" Type="http://schemas.openxmlformats.org/officeDocument/2006/relationships/image" Target="../media/image17.png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7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4.png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"/>
          <p:cNvSpPr txBox="1">
            <a:spLocks noGrp="1"/>
          </p:cNvSpPr>
          <p:nvPr>
            <p:ph type="title" idx="4"/>
            <p:custDataLst>
              <p:tags r:id="rId1"/>
            </p:custDataLst>
          </p:nvPr>
        </p:nvSpPr>
        <p:spPr>
          <a:xfrm>
            <a:off x="548798" y="2293974"/>
            <a:ext cx="5283509" cy="1951235"/>
          </a:xfr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75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Healthcare</a:t>
            </a:r>
            <a:r>
              <a:rPr>
                <a:ea typeface="+mj-ea"/>
                <a:cs typeface="+mn-ea"/>
                <a:sym typeface="+mn-ea"/>
              </a:rPr>
              <a:t> Analytics </a:t>
            </a:r>
            <a:r>
              <a:rPr>
                <a:ea typeface="+mj-ea"/>
                <a:cs typeface="+mn-ea"/>
                <a:sym typeface="+mn-ea"/>
              </a:rPr>
              <a:t>Project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10" name="公司名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950754" y="302802"/>
            <a:ext cx="5147151" cy="953014"/>
          </a:xfrm>
        </p:spPr>
        <p:txBody>
          <a:bodyPr>
            <a:noAutofit/>
          </a:bodyPr>
          <a:lstStyle/>
          <a:p>
            <a:pPr algn="ctr"/>
            <a:r>
              <a:rPr lang="en-IN" altLang="en-US" sz="3200" b="1">
                <a:ea typeface="+mn-ea"/>
                <a:cs typeface="Arial Black" panose="020B0A04020102020204" charset="0"/>
              </a:rPr>
              <a:t>Group 3 Presentation</a:t>
            </a:r>
            <a:endParaRPr lang="en-IN" altLang="en-US" sz="3200" b="1">
              <a:ea typeface="+mn-ea"/>
              <a:cs typeface="Arial Black" panose="020B0A04020102020204" charset="0"/>
            </a:endParaRPr>
          </a:p>
        </p:txBody>
      </p:sp>
      <p:sp>
        <p:nvSpPr>
          <p:cNvPr id="11" name="年份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prstGeom prst="rect">
            <a:avLst/>
          </a:prstGeom>
        </p:spPr>
        <p:txBody>
          <a:bodyPr>
            <a:normAutofit/>
          </a:bodyPr>
          <a:p>
            <a:r>
              <a:rPr lang="en-US">
                <a:ea typeface="+mn-ea"/>
              </a:rPr>
              <a:t>年号</a:t>
            </a:r>
            <a:endParaRPr lang="en-US">
              <a:ea typeface="+mn-ea"/>
            </a:endParaRPr>
          </a:p>
        </p:txBody>
      </p:sp>
      <p:sp>
        <p:nvSpPr>
          <p:cNvPr id="12" name="署名"/>
          <p:cNvSpPr>
            <a:spLocks noGrp="1"/>
          </p:cNvSpPr>
          <p:nvPr>
            <p:ph type="body" sz="quarter" idx="4294967295"/>
            <p:custDataLst>
              <p:tags r:id="rId4"/>
            </p:custDataLst>
          </p:nvPr>
        </p:nvSpPr>
        <p:spPr>
          <a:xfrm flipH="1">
            <a:off x="0" y="5058410"/>
            <a:ext cx="76200" cy="17399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76000">
                <a:schemeClr val="accent1"/>
              </a:gs>
            </a:gsLst>
            <a:lin ang="10800000" scaled="0"/>
          </a:gradFill>
        </p:spPr>
        <p:txBody>
          <a:bodyPr>
            <a:normAutofit fontScale="30000"/>
          </a:bodyPr>
          <a:p>
            <a:r>
              <a:rPr lang="en-US">
                <a:latin typeface="+mn-lt"/>
                <a:ea typeface="+mn-ea"/>
              </a:rPr>
              <a:t>署名</a:t>
            </a:r>
            <a:endParaRPr lang="en-US">
              <a:latin typeface="+mn-lt"/>
              <a:ea typeface="+mn-ea"/>
            </a:endParaRPr>
          </a:p>
        </p:txBody>
      </p:sp>
      <p:sp>
        <p:nvSpPr>
          <p:cNvPr id="7" name="Title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3555" y="1958975"/>
            <a:ext cx="7772400" cy="189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IN" sz="44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None/>
            </a:pPr>
            <a:endParaRPr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6" name="Picture 5" descr="Medic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850640"/>
            <a:ext cx="2763520" cy="2636520"/>
          </a:xfrm>
          <a:prstGeom prst="rect">
            <a:avLst/>
          </a:prstGeom>
        </p:spPr>
      </p:pic>
      <p:pic>
        <p:nvPicPr>
          <p:cNvPr id="13" name="Picture 12" descr="4957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6950" y="0"/>
            <a:ext cx="1797050" cy="174434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394970" y="1274445"/>
            <a:ext cx="8649970" cy="4544060"/>
          </a:xfrm>
        </p:spPr>
        <p:txBody>
          <a:bodyPr wrap="square">
            <a:noAutofit/>
          </a:bodyPr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Healthcare dataset contains patient demographics, diagnosis details, treatment records, revenue and visit information.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Dataset was used to create a complete executive healthcare analytics dashboard in Excel.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Data includes KPIs, patient visits, treatment outcomes and diagnosis trends for analysis.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Interactive dashboard helps management monitor operational and financial healthcare performance.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Dashboard supports faster decision-making using visual analytics and dynamic reporting.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Used Pivot Tables, slicers, charts and KPI cards for creating interactive reports.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6" name="Title 5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521705" y="74522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555">
                <a:ea typeface="+mj-ea"/>
                <a:cs typeface="+mn-ea"/>
                <a:sym typeface="+mn-ea"/>
              </a:rPr>
              <a:t>Healthcare Dataset Overview</a:t>
            </a:r>
            <a:endParaRPr sz="3555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74548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521705" y="1174950"/>
            <a:ext cx="8226900" cy="3569400"/>
          </a:xfrm>
        </p:spPr>
        <p:txBody>
          <a:bodyPr wrap="square">
            <a:noAutofit/>
          </a:bodyPr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Created relationships between all 8 tables using unique IDs and lookup keys.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Connected Patients, Visits, Departments, Diagnoses and Treatments tables together.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Built a proper data model to support dynamic filtering and reporting across dashboards.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Relationships improved dashboard accuracy and eliminated duplicate reporting issues.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Used Excel Data Model and Pivot relationships for advanced reporting functionality.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Cross-table analysis helped create integrated healthcare business insights.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521070" y="53186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Data Modelling &amp; Relationships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456300" y="1253690"/>
            <a:ext cx="8226900" cy="3569400"/>
          </a:xfrm>
        </p:spPr>
        <p:txBody>
          <a:bodyPr wrap="square">
            <a:normAutofit/>
          </a:bodyPr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Total Patients analyzed in the dashboard: 10,000.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Total Visits recorded across all departments: 10,000.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Completion Rate achieved in treatments: 32.66%.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Overall Success Rate recorded at 33.01%.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Total Revenue generated by healthcare operations: 2,540,894.69.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Chronic Disease Rate reached 80.35%, indicating high long-term care demand.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582030" y="37438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KPI Overview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82295" y="796924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 descr="KP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65" y="4716780"/>
            <a:ext cx="8351520" cy="10096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455665" y="1314015"/>
            <a:ext cx="8226900" cy="3569400"/>
          </a:xfrm>
        </p:spPr>
        <p:txBody>
          <a:bodyPr wrap="square">
            <a:noAutofit/>
          </a:bodyPr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Total patient count reached 10,000 across healthcare departments.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High patient volume reflects strong healthcare service demand.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Patient data analysis supports operational planning and staffing optimization.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Helps management identify resource allocation requirements efficiently.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Patient analytics improve healthcare delivery and service management.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Dashboard enables better understanding of patient engagement trends.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456300" y="78459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Total Patients Analysis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82930" y="1075054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3" name="Picture 2" descr="Patient breaku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355" y="4373245"/>
            <a:ext cx="6511925" cy="24847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>
            <a:spLocks noGrp="1"/>
          </p:cNvSpPr>
          <p:nvPr>
            <p:ph type="title" idx="3"/>
            <p:custDataLst>
              <p:tags r:id="rId1"/>
            </p:custDataLst>
          </p:nvPr>
        </p:nvSpPr>
        <p:spPr>
          <a:xfrm>
            <a:off x="521705" y="47916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Total Visit Analysis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1970" y="1301750"/>
            <a:ext cx="5351145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171450" indent="-171450" algn="l" defTabSz="685800" rtl="0" eaLnBrk="1" latinLnBrk="0" hangingPunct="1">
              <a:lnSpc>
                <a:spcPct val="13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cs typeface="+mn-lt"/>
              </a:defRPr>
            </a:lvl1pPr>
            <a:lvl2pPr marL="403860" indent="-15494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 marL="599440" indent="-121285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 marL="772795" indent="-11176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 marL="926465" indent="-9525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Total visits recorded in the system reached 10,000.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Visit analysis helps monitor hospital utilization and patient activity trends.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Supports appointment scheduling and workforce planning decisions.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Visit trends allow healthcare management to improve operational efficiency.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Higher visit volume indicates strong patient engagement and service demand.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Dashboard helps executives monitor yearly healthcare utilization patterns.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8" name="Picture 7" descr="Visit by de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15" y="862965"/>
            <a:ext cx="3186430" cy="3955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>
            <a:spLocks noGrp="1"/>
          </p:cNvSpPr>
          <p:nvPr>
            <p:ph type="title" idx="3"/>
            <p:custDataLst>
              <p:tags r:id="rId1"/>
            </p:custDataLst>
          </p:nvPr>
        </p:nvSpPr>
        <p:spPr>
          <a:xfrm>
            <a:off x="380735" y="52043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Completion </a:t>
            </a:r>
            <a:r>
              <a:rPr sz="3110">
                <a:ea typeface="+mj-ea"/>
                <a:cs typeface="+mn-ea"/>
                <a:sym typeface="+mn-ea"/>
              </a:rPr>
              <a:t>Rate </a:t>
            </a:r>
            <a:r>
              <a:rPr>
                <a:ea typeface="+mj-ea"/>
                <a:cs typeface="+mn-ea"/>
                <a:sym typeface="+mn-ea"/>
              </a:rPr>
              <a:t>Analysis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hart 1"/>
          <p:cNvSpPr/>
          <p:nvPr/>
        </p:nvSpPr>
        <p:spPr>
          <a:xfrm>
            <a:off x="0" y="1055370"/>
            <a:ext cx="9144000" cy="4747260"/>
          </a:xfrm>
        </p:spPr>
        <p:txBody>
          <a:bodyPr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Chart 1"/>
          <p:cNvSpPr/>
          <p:nvPr/>
        </p:nvSpPr>
        <p:spPr>
          <a:xfrm>
            <a:off x="127000" y="1182370"/>
            <a:ext cx="9144000" cy="4747260"/>
          </a:xfrm>
        </p:spPr>
        <p:txBody>
          <a:bodyPr/>
          <a:p>
            <a:endParaRPr>
              <a:solidFill>
                <a:schemeClr val="tx1"/>
              </a:solidFill>
            </a:endParaRPr>
          </a:p>
        </p:txBody>
      </p:sp>
      <p:sp>
        <p:nvSpPr>
          <p:cNvPr id="9" name="Chart 1"/>
          <p:cNvSpPr/>
          <p:nvPr/>
        </p:nvSpPr>
        <p:spPr>
          <a:xfrm>
            <a:off x="127000" y="135890"/>
            <a:ext cx="9144000" cy="4747260"/>
          </a:xfrm>
        </p:spPr>
        <p:txBody>
          <a:bodyPr/>
          <a:p>
            <a:endParaRPr>
              <a:solidFill>
                <a:schemeClr val="tx1"/>
              </a:solidFill>
            </a:endParaRPr>
          </a:p>
        </p:txBody>
      </p:sp>
      <p:sp>
        <p:nvSpPr>
          <p:cNvPr id="11" name="Chart 1"/>
          <p:cNvSpPr/>
          <p:nvPr/>
        </p:nvSpPr>
        <p:spPr>
          <a:xfrm>
            <a:off x="381000" y="1436370"/>
            <a:ext cx="9144000" cy="4747260"/>
          </a:xfrm>
        </p:spPr>
        <p:txBody>
          <a:bodyPr/>
          <a:p>
            <a:endParaRPr>
              <a:solidFill>
                <a:schemeClr val="tx1"/>
              </a:solidFill>
            </a:endParaRPr>
          </a:p>
        </p:txBody>
      </p:sp>
      <p:sp>
        <p:nvSpPr>
          <p:cNvPr id="12" name="Chart 1"/>
          <p:cNvSpPr/>
          <p:nvPr/>
        </p:nvSpPr>
        <p:spPr>
          <a:xfrm>
            <a:off x="528320" y="1563370"/>
            <a:ext cx="9144000" cy="4747260"/>
          </a:xfrm>
        </p:spPr>
        <p:txBody>
          <a:bodyPr/>
          <a:p>
            <a:endParaRPr>
              <a:solidFill>
                <a:schemeClr val="tx1"/>
              </a:solidFill>
            </a:endParaRPr>
          </a:p>
        </p:txBody>
      </p:sp>
      <p:sp>
        <p:nvSpPr>
          <p:cNvPr id="13" name="Chart 1"/>
          <p:cNvSpPr/>
          <p:nvPr/>
        </p:nvSpPr>
        <p:spPr>
          <a:xfrm>
            <a:off x="635000" y="1690370"/>
            <a:ext cx="9144000" cy="4747260"/>
          </a:xfrm>
        </p:spPr>
        <p:txBody>
          <a:bodyPr/>
          <a:p>
            <a:endParaRPr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8000" y="1436370"/>
            <a:ext cx="8255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171450" indent="-171450" algn="l" defTabSz="685800" rtl="0" eaLnBrk="1" latinLnBrk="0" hangingPunct="1">
              <a:lnSpc>
                <a:spcPct val="13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cs typeface="+mn-lt"/>
              </a:defRPr>
            </a:lvl1pPr>
            <a:lvl2pPr marL="403860" indent="-15494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 marL="599440" indent="-121285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 marL="772795" indent="-11176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 marL="926465" indent="-95250" algn="l" defTabSz="6858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Completion Rate stands at 32.66% for healthcare procedures and treatments.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KPI measures the percentage of completed healthcare activities successfully.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Lower completion rate indicates areas needing operational improvements.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Better follow-up systems can improve completion performance significantly.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Completion tracking helps management monitor process efficiency.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• Supports healthcare quality improvement initiatives and reporting.</a:t>
            </a:r>
            <a:endParaRPr sz="180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392430" y="1233170"/>
            <a:ext cx="5415915" cy="5113655"/>
          </a:xfrm>
        </p:spPr>
        <p:txBody>
          <a:bodyPr wrap="square">
            <a:normAutofit fontScale="9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Success Rate recorded at 33.01% across healthcare treatments.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Measures treatment effectiveness and patient recovery outcomes.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Higher success rates indicate improved healthcare quality and performance.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Helps departments benchmark treatment efficiency and recovery standards.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Supports continuous improvement in patient-care management.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provides executives with real-time performance visibility.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392800" y="55028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Success Rate Analysis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565" y="550544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960" y="1049655"/>
            <a:ext cx="3354705" cy="46101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394705" y="1301950"/>
            <a:ext cx="8226900" cy="3569400"/>
          </a:xfrm>
        </p:spPr>
        <p:txBody>
          <a:bodyPr wrap="square">
            <a:normAutofit fontScale="8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Total Revenue generated by healthcare services reached 2.54 Million.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Neurology and Pediatrics departments contributed significantly to revenue.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Revenue analysis supports budgeting and financial planning decisions.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Department-wise revenue insights improve operational monitoring.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Financial analytics help management optimize healthcare investments.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improves visibility into organizational profitability trends.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455665" y="65251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Revenue Analysis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4034790"/>
            <a:ext cx="5511800" cy="28238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455030" y="965400"/>
            <a:ext cx="8226900" cy="3569400"/>
          </a:xfrm>
        </p:spPr>
        <p:txBody>
          <a:bodyPr wrap="square">
            <a:noAutofit/>
          </a:bodyPr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Chronic Disease Rate recorded at 80.35% in the healthcare dataset.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Indicates a high number of patients requiring long-term treatment and monitoring.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Chronic illnesses increase operational workload and healthcare expenses.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Analytics help identify high-risk patients and improve care management.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Supports preventive healthcare strategies and treatment optimization.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700">
                <a:latin typeface="Verdana" panose="020B0604030504040204" charset="0"/>
                <a:ea typeface="+mn-ea"/>
                <a:cs typeface="Verdana" panose="020B0604030504040204" charset="0"/>
              </a:rPr>
              <a:t>• Dashboard helps management track chronic healthcare demand effectively.</a:t>
            </a:r>
            <a:endParaRPr sz="1700"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455665" y="31279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Chronic Disease Rate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20" y="4448175"/>
            <a:ext cx="5465445" cy="23393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456565" y="1301750"/>
            <a:ext cx="5755640" cy="4872990"/>
          </a:xfrm>
        </p:spPr>
        <p:txBody>
          <a:bodyPr wrap="square">
            <a:normAutofit fontScale="90000" lnSpcReduction="1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Specialist Consultation contributes 26% of total visits.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Routine Checkups account for 25% of healthcare interactions.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Follow-up Visits also contribute 25% to overall visit distribution.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Emergency Visits represent 24% of healthcare operations.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Balanced visit distribution indicates stable healthcare service operations.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Visit analysis helps optimize hospital resources and staffing decisions.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456300" y="41756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Visit Type Distribution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6565" y="992505"/>
            <a:ext cx="5818505" cy="51784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840" y="1303655"/>
            <a:ext cx="2930525" cy="36893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394705" y="1084780"/>
            <a:ext cx="8226900" cy="3569400"/>
          </a:xfrm>
        </p:spPr>
        <p:txBody>
          <a:bodyPr wrap="square">
            <a:normAutofit fontScale="90000" lnSpcReduction="2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Migraine recorded the highest diagnosis volume among all medical conditions.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Hypertension and Asthma also show significantly high patient counts.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Diabetes remains one of the major chronic healthcare conditions.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Diagnosis analysis helps identify major healthcare demand areas.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Healthcare management can optimize resources using diagnosis trends.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supports data-driven clinical and operational planning.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455665" y="44868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Top Diagnoses by Volume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90" y="4761230"/>
            <a:ext cx="5822315" cy="19818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476885" y="1301750"/>
            <a:ext cx="5351145" cy="4825365"/>
          </a:xfrm>
        </p:spPr>
        <p:txBody>
          <a:bodyPr wrap="square">
            <a:noAutofit/>
          </a:bodyPr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Patient visits increased significantly from 2023 to 2024.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2024 recorded the highest healthcare visit volume in the dashboard.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2025 trend shows decline because of incomplete yearly data collection.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Trend analysis supports forecasting and workforce planning decisions.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Visit trends help management understand long-term healthcare demand.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Dashboard enables year-wise performance monitoring and analysis.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455665" y="53123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Monthly Visit Trend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0604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150" y="334010"/>
            <a:ext cx="3589020" cy="2247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045" y="3128645"/>
            <a:ext cx="3354070" cy="25723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521970" y="1223645"/>
            <a:ext cx="5124450" cy="5175885"/>
          </a:xfrm>
        </p:spPr>
        <p:txBody>
          <a:bodyPr wrap="square">
            <a:normAutofit fontScale="9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Ongoing Treatments recorded: 3351 cases.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Failed Treatments recorded: 3348 cases.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Successful Treatments recorded: 3301 cases.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Treatment outcome analysis helps improve healthcare quality standards.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Monitoring failed treatments supports operational improvement initiatives.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helps management track patient recovery performance effectively.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456300" y="37629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Treatment Outcomes Breakdown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817880"/>
            <a:ext cx="3293745" cy="321818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8960" y="4017010"/>
            <a:ext cx="3354705" cy="26384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521970" y="1301750"/>
            <a:ext cx="5518785" cy="4864735"/>
          </a:xfrm>
        </p:spPr>
        <p:txBody>
          <a:bodyPr wrap="square">
            <a:normAutofit fontScale="8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Texas recorded one of the highest patient counts in the dataset.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State-wise analysis identifies healthcare demand hotspots effectively.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Regional insights support healthcare expansion and planning decisions.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Geographic trends improve resource allocation and operational management.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Patient distribution analysis helps identify underserved regions.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supports strategic healthcare service planning.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521705" y="65251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Patient Distribution by State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465" y="1600835"/>
            <a:ext cx="3175635" cy="36569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394970" y="1212850"/>
            <a:ext cx="8368665" cy="3569335"/>
          </a:xfrm>
        </p:spPr>
        <p:txBody>
          <a:bodyPr wrap="square">
            <a:noAutofit/>
          </a:bodyPr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</a:t>
            </a:r>
            <a:r>
              <a:rPr lang="en-IN" sz="1600">
                <a:latin typeface="Verdana" panose="020B0604030504040204" charset="0"/>
                <a:ea typeface="+mn-ea"/>
                <a:cs typeface="Verdana" panose="020B0604030504040204" charset="0"/>
              </a:rPr>
              <a:t>General Medicine</a:t>
            </a: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 generated one of the highest revenue contributions.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Pediatrics and </a:t>
            </a:r>
            <a:r>
              <a:rPr lang="en-IN" sz="1600">
                <a:latin typeface="Verdana" panose="020B0604030504040204" charset="0"/>
                <a:ea typeface="+mn-ea"/>
                <a:cs typeface="Verdana" panose="020B0604030504040204" charset="0"/>
              </a:rPr>
              <a:t>Cardiology</a:t>
            </a: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 also showed strong financial performance.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Department-wise analysis improves healthcare financial monitoring.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Revenue insights help identify high-performing healthcare departments.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Financial reporting supports budgeting and strategic planning decisions.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600">
                <a:latin typeface="Verdana" panose="020B0604030504040204" charset="0"/>
                <a:ea typeface="+mn-ea"/>
                <a:cs typeface="Verdana" panose="020B0604030504040204" charset="0"/>
              </a:rPr>
              <a:t>• Dashboard improves visibility into departmental business performance.</a:t>
            </a:r>
            <a:endParaRPr sz="1600"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521705" y="54139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sz="3110">
                <a:ea typeface="+mj-ea"/>
                <a:cs typeface="+mn-ea"/>
                <a:sym typeface="+mn-ea"/>
              </a:rPr>
              <a:t>Revenue by Department</a:t>
            </a:r>
            <a:endParaRPr sz="3110"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67055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185" y="3942715"/>
            <a:ext cx="6649085" cy="25958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456300" y="1301950"/>
            <a:ext cx="8226900" cy="3569400"/>
          </a:xfrm>
        </p:spPr>
        <p:txBody>
          <a:bodyPr wrap="square">
            <a:normAutofit fontScale="90000" lnSpcReduction="1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includes interactive slicers for department-level analysis.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Departments include Cardiology, Neurology, Orthopedics and Pediatrics.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Dynamic filtering improves reporting flexibility and usability.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Drill-down analysis helps management explore detailed department insights.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Interactive reporting supports faster executive decision-making.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enhances overall business intelligence capabilities.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521705" y="65505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Department Filter Analysis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" y="4657725"/>
            <a:ext cx="2897505" cy="2200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521335" y="1301750"/>
            <a:ext cx="5375275" cy="5421630"/>
          </a:xfrm>
        </p:spPr>
        <p:txBody>
          <a:bodyPr wrap="square">
            <a:normAutofit fontScale="9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supports analysis for years 2023, 2024 and 2025.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Year-wise filtering helps identify healthcare growth trends clearly.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Annual comparisons improve operational and financial planning decisions.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Trend analysis supports forecasting and workforce management.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Helps executives monitor long-term healthcare performance effectively.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improves strategic reporting and planning efficiency.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521705" y="47916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Visit Year Analysis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725" y="2726690"/>
            <a:ext cx="3354070" cy="25723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537845" y="1408430"/>
            <a:ext cx="5888990" cy="5093335"/>
          </a:xfrm>
        </p:spPr>
        <p:txBody>
          <a:bodyPr wrap="square">
            <a:normAutofit fontScale="90000"/>
          </a:bodyPr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Treatment filters include Medication, Surgery, Vaccination and Physical Therapy.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Treatment-wise analysis improves healthcare service monitoring.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Helps management compare treatment demand and performance trends.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Interactive filtering supports detailed patient-care analysis.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Dashboard improves operational visibility into healthcare services.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>
                <a:latin typeface="Verdana" panose="020B0604030504040204" charset="0"/>
                <a:ea typeface="+mn-ea"/>
                <a:cs typeface="Verdana" panose="020B0604030504040204" charset="0"/>
              </a:rPr>
              <a:t>• Treatment insights support strategic healthcare planning.</a:t>
            </a:r>
            <a:endParaRPr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538215" y="52043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Treatment Type Analysis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2725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875" y="780415"/>
            <a:ext cx="1813560" cy="14630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190" y="2393315"/>
            <a:ext cx="2514600" cy="33528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 idx="3"/>
            <p:custDataLst>
              <p:tags r:id="rId1"/>
            </p:custDataLst>
          </p:nvPr>
        </p:nvSpPr>
        <p:spPr>
          <a:xfrm>
            <a:off x="353430" y="500115"/>
            <a:ext cx="8226900" cy="529200"/>
          </a:xfrm>
        </p:spPr>
        <p:txBody>
          <a:bodyPr>
            <a:normAutofit fontScale="90000"/>
          </a:bodyPr>
          <a:p>
            <a:r>
              <a:rPr lang="en-IN" altLang="en-US"/>
              <a:t>SQL Analysis</a:t>
            </a:r>
            <a:endParaRPr lang="en-IN" altLang="en-US"/>
          </a:p>
        </p:txBody>
      </p:sp>
      <p:sp>
        <p:nvSpPr>
          <p:cNvPr id="7" name="Content Placeholder 6"/>
          <p:cNvSpPr/>
          <p:nvPr>
            <p:ph idx="4"/>
            <p:custDataLst>
              <p:tags r:id="rId2"/>
            </p:custDataLst>
          </p:nvPr>
        </p:nvSpPr>
        <p:spPr>
          <a:xfrm>
            <a:off x="353695" y="1376045"/>
            <a:ext cx="5591175" cy="4672330"/>
          </a:xfrm>
        </p:spPr>
        <p:txBody>
          <a:bodyPr>
            <a:normAutofit fontScale="90000"/>
          </a:bodyPr>
          <a:p>
            <a:r>
              <a:rPr lang="en-US" altLang="en-US" sz="1600">
                <a:latin typeface="Verdana" panose="020B0604030504040204" charset="0"/>
                <a:cs typeface="Verdana" panose="020B0604030504040204" charset="0"/>
              </a:rPr>
              <a:t>From Fragmented Excel Files to Centralized SQL InsightsData Centralization</a:t>
            </a:r>
            <a:endParaRPr lang="en-US" altLang="en-US" sz="16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1600">
                <a:latin typeface="Verdana" panose="020B0604030504040204" charset="0"/>
                <a:cs typeface="Verdana" panose="020B0604030504040204" charset="0"/>
              </a:rPr>
              <a:t> Migrated separate Excel spreadsheets (Patients, Visits, Billing) into a single, structured MySQL database.Relational Modeling</a:t>
            </a:r>
            <a:r>
              <a:rPr lang="en-IN" altLang="en-US" sz="1600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IN" altLang="en-US" sz="16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1600">
                <a:latin typeface="Verdana" panose="020B0604030504040204" charset="0"/>
                <a:cs typeface="Verdana" panose="020B0604030504040204" charset="0"/>
              </a:rPr>
              <a:t> Connected flat files into a relational schema using Primary &amp; Foreign Keys to ensure data integrity.</a:t>
            </a:r>
            <a:endParaRPr lang="en-US" altLang="en-US" sz="16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1600">
                <a:latin typeface="Verdana" panose="020B0604030504040204" charset="0"/>
                <a:cs typeface="Verdana" panose="020B0604030504040204" charset="0"/>
              </a:rPr>
              <a:t>Advanced Querying: Executed complex Multi-Table Joins and conditional aggregations (GROUP BY) to eliminate manual data filtering.</a:t>
            </a:r>
            <a:endParaRPr lang="en-US" altLang="en-US" sz="16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1600">
                <a:latin typeface="Verdana" panose="020B0604030504040204" charset="0"/>
                <a:cs typeface="Verdana" panose="020B0604030504040204" charset="0"/>
              </a:rPr>
              <a:t>Key Deliverable: Generated unified, query-driven datasets tracking patient outcomes, hospital stay lengths, and billing trends.</a:t>
            </a:r>
            <a:endParaRPr lang="en-US" altLang="en-US" sz="1600"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-19065" t="2433" r="50106" b="-2433"/>
          <a:stretch>
            <a:fillRect/>
          </a:stretch>
        </p:blipFill>
        <p:spPr>
          <a:xfrm>
            <a:off x="4617720" y="1376045"/>
            <a:ext cx="4526280" cy="36150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Content Placeholder 7"/>
          <p:cNvSpPr>
            <a:spLocks noGrp="1"/>
          </p:cNvSpPr>
          <p:nvPr>
            <p:ph idx="4"/>
            <p:custDataLst>
              <p:tags r:id="rId1"/>
            </p:custDataLst>
          </p:nvPr>
        </p:nvSpPr>
        <p:spPr>
          <a:xfrm>
            <a:off x="455030" y="1301950"/>
            <a:ext cx="8226900" cy="3569400"/>
          </a:xfrm>
        </p:spPr>
        <p:txBody>
          <a:bodyPr wrap="square">
            <a:noAutofit/>
          </a:bodyPr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Healthcare dashboard combines KPIs, charts, slicers and business insights together.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Built using Excel dashboarding, Pivot Tables and data modelling techniques.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Dashboard supports operational, financial and strategic healthcare decisions.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Interactive visuals improve reporting speed and executive visibility.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Healthcare analytics improve patient care quality and operational efficiency.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  <a:p>
            <a:pPr marL="0" indent="0">
              <a:buNone/>
              <a:defRPr sz="2000"/>
            </a:pPr>
            <a:r>
              <a:rPr sz="1800">
                <a:latin typeface="Verdana" panose="020B0604030504040204" charset="0"/>
                <a:ea typeface="+mn-ea"/>
                <a:cs typeface="Verdana" panose="020B0604030504040204" charset="0"/>
              </a:rPr>
              <a:t>• Project demonstrates strong business intelligence and Excel dashboarding skills.</a:t>
            </a:r>
            <a:endParaRPr sz="1800">
              <a:latin typeface="Verdana" panose="020B0604030504040204" charset="0"/>
              <a:ea typeface="+mn-ea"/>
              <a:cs typeface="Verdana" panose="020B0604030504040204" charset="0"/>
            </a:endParaRPr>
          </a:p>
        </p:txBody>
      </p:sp>
      <p:sp>
        <p:nvSpPr>
          <p:cNvPr id="7" name="Title 6"/>
          <p:cNvSpPr txBox="1">
            <a:spLocks noGrp="1"/>
          </p:cNvSpPr>
          <p:nvPr>
            <p:ph type="title" idx="3"/>
            <p:custDataLst>
              <p:tags r:id="rId2"/>
            </p:custDataLst>
          </p:nvPr>
        </p:nvSpPr>
        <p:spPr>
          <a:xfrm>
            <a:off x="455665" y="623305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Project Summary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 idx="3"/>
            <p:custDataLst>
              <p:tags r:id="rId1"/>
            </p:custDataLst>
          </p:nvPr>
        </p:nvSpPr>
        <p:spPr>
          <a:xfrm>
            <a:off x="4024630" y="1545114"/>
            <a:ext cx="4526756" cy="1759268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IN" sz="4300">
                <a:ea typeface="+mj-ea"/>
              </a:rPr>
              <a:t>Thank You</a:t>
            </a:r>
            <a:endParaRPr lang="en-IN" sz="4300"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4189095" y="3304375"/>
            <a:ext cx="4526756" cy="631990"/>
          </a:xfrm>
        </p:spPr>
        <p:txBody>
          <a:bodyPr>
            <a:normAutofit fontScale="25000"/>
          </a:bodyPr>
          <a:lstStyle/>
          <a:p>
            <a:endParaRPr lang="en-US" sz="6400">
              <a:ea typeface="+mn-ea"/>
            </a:endParaRPr>
          </a:p>
          <a:p>
            <a:r>
              <a:rPr lang="en-IN" altLang="en-US" sz="6400">
                <a:ea typeface="+mn-ea"/>
              </a:rPr>
              <a:t>Priyanka</a:t>
            </a:r>
            <a:endParaRPr lang="en-IN" altLang="en-US" sz="6400">
              <a:ea typeface="+mn-ea"/>
            </a:endParaRPr>
          </a:p>
          <a:p>
            <a:r>
              <a:rPr lang="en-IN" altLang="en-US" sz="6400">
                <a:ea typeface="+mn-ea"/>
              </a:rPr>
              <a:t>Navdeep</a:t>
            </a:r>
            <a:endParaRPr lang="en-IN" altLang="en-US" sz="6400">
              <a:ea typeface="+mn-ea"/>
            </a:endParaRPr>
          </a:p>
          <a:p>
            <a:r>
              <a:rPr lang="en-IN" altLang="en-US" sz="6400">
                <a:ea typeface="+mn-ea"/>
              </a:rPr>
              <a:t>Parnavi</a:t>
            </a:r>
            <a:endParaRPr lang="en-IN" altLang="en-US" sz="6400">
              <a:ea typeface="+mn-ea"/>
            </a:endParaRPr>
          </a:p>
          <a:p>
            <a:r>
              <a:rPr lang="en-IN" altLang="en-US" sz="6400">
                <a:ea typeface="+mn-ea"/>
              </a:rPr>
              <a:t>Riyaz</a:t>
            </a:r>
            <a:endParaRPr lang="en-IN" altLang="en-US" sz="640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7980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80"/>
</p:tagLst>
</file>

<file path=ppt/tags/tag9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80"/>
</p:tagLst>
</file>

<file path=ppt/tags/tag9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132"/>
  <p:tag name="KSO_WM_TEMPLATE_CATEGORY" val="custom"/>
  <p:tag name="KSO_WM_UNIT_ISCONTENTSTITLE" val="0"/>
  <p:tag name="KSO_WM_UNIT_VALUE" val="10"/>
  <p:tag name="KSO_WM_UNIT_PRESET_TEXT" val="单击此处添加标题"/>
  <p:tag name="KSO_WM_UNIT_CONTENT_GROUP_TYPE" val="contentchip"/>
  <p:tag name="KSO_WM_UNIT_ID" val="_1*a*1"/>
</p:tagLst>
</file>

<file path=ppt/tags/tag97.xml><?xml version="1.0" encoding="utf-8"?>
<p:tagLst xmlns:p="http://schemas.openxmlformats.org/presentationml/2006/main">
  <p:tag name="KSO_WM_UNIT_TYPE" val="b"/>
  <p:tag name="KSO_WM_UNIT_SUBTYPE" val="g"/>
  <p:tag name="KSO_WM_UNIT_INDEX" val="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132"/>
  <p:tag name="KSO_WM_TEMPLATE_CATEGORY" val="custom"/>
  <p:tag name="KSO_WM_UNIT_VALUE" val="17"/>
  <p:tag name="KSO_WM_UNIT_PRESET_TEXT" val="添加文档副标题"/>
  <p:tag name="KSO_WM_UNIT_ISCONTENTSTITLE" val="0"/>
  <p:tag name="KSO_WM_UNIT_CONTENT_GROUP_TYPE" val="contentchip"/>
  <p:tag name="KSO_WM_UNIT_ID" val="_1*b*1"/>
</p:tagLst>
</file>

<file path=ppt/tags/tag98.xml><?xml version="1.0" encoding="utf-8"?>
<p:tagLst xmlns:p="http://schemas.openxmlformats.org/presentationml/2006/main">
  <p:tag name="KSO_WM_UNIT_TYPE" val="f"/>
  <p:tag name="KSO_WM_UNIT_SUBTYPE" val="b"/>
  <p:tag name="KSO_WM_UNIT_INDEX" val="4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132"/>
  <p:tag name="KSO_WM_TEMPLATE_CATEGORY" val="custom"/>
  <p:tag name="KSO_WM_UNIT_VALUE" val="8"/>
  <p:tag name="KSO_WM_UNIT_PRESET_TEXT" val="署名占位符"/>
  <p:tag name="KSO_WM_UNIT_ID" val="_1*f*4"/>
</p:tagLst>
</file>

<file path=ppt/tags/tag99.xml><?xml version="1.0" encoding="utf-8"?>
<p:tagLst xmlns:p="http://schemas.openxmlformats.org/presentationml/2006/main">
  <p:tag name="KSO_WM_UNIT_SUBTYPE" val="b"/>
  <p:tag name="KSO_WM_UNIT_INDEX" val="9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132"/>
  <p:tag name="KSO_WM_TEMPLATE_CATEGORY" val="custom"/>
  <p:tag name="KSO_WM_UNIT_VALUE" val="11"/>
  <p:tag name="KSO_WM_UNIT_PRESET_TEXT" val="署名"/>
  <p:tag name="KSO_WM_UNIT_TYPE_DROP" val="f"/>
</p:tagLst>
</file>

<file path=ppt/tags/tag100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01.xml><?xml version="1.0" encoding="utf-8"?>
<p:tagLst xmlns:p="http://schemas.openxmlformats.org/presentationml/2006/main">
  <p:tag name="KSO_WM_TEMPLATE_THUMBS_INDEX" val="1、9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132"/>
  <p:tag name="KSO_WM_TEMPLATE_CATEGORY" val="custom"/>
  <p:tag name="KSO_WM_SLIDE_INDEX" val="1"/>
  <p:tag name="KSO_WM_SLIDE_ID" val="custom20238132_1"/>
  <p:tag name="KSO_WM_TEMPLATE_MASTER_TYPE" val="0"/>
  <p:tag name="KSO_WM_SLIDE_LAYOUT" val="a_b_f"/>
  <p:tag name="KSO_WM_SLIDE_LAYOUT_CNT" val="1_1_3"/>
  <p:tag name="KSO_WM_SPECIAL_SOURCE" val="bdnull"/>
  <p:tag name="KSO_WM_SLIDE_THEME_ID" val="3303177"/>
  <p:tag name="KSO_WM_SLIDE_THEME_NAME" val="Green Business"/>
</p:tagLst>
</file>

<file path=ppt/tags/tag10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0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SLIDE_TYPE" val="text"/>
  <p:tag name="KSO_WM_BEAUTIFY_FLAG" val="#wm#"/>
</p:tagLst>
</file>

<file path=ppt/tags/tag10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07.xml><?xml version="1.0" encoding="utf-8"?>
<p:tagLst xmlns:p="http://schemas.openxmlformats.org/presentationml/2006/main">
  <p:tag name="KSO_WM_UNIT_TEXT" val="Dataset Overview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0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SLIDE_TYPE" val="text"/>
  <p:tag name="KSO_WM_BEAUTIFY_FLAG" val="#wm#"/>
</p:tagLst>
</file>

<file path=ppt/tags/tag1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11.xml><?xml version="1.0" encoding="utf-8"?>
<p:tagLst xmlns:p="http://schemas.openxmlformats.org/presentationml/2006/main">
  <p:tag name="KSO_WM_UNIT_TEXT" val="Data Cleaning &amp; Transformation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1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SLIDE_TYPE" val="text"/>
  <p:tag name="KSO_WM_BEAUTIFY_FLAG" val="#wm#"/>
</p:tagLst>
</file>

<file path=ppt/tags/tag11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15.xml><?xml version="1.0" encoding="utf-8"?>
<p:tagLst xmlns:p="http://schemas.openxmlformats.org/presentationml/2006/main">
  <p:tag name="KSO_WM_UNIT_TEXT" val="Merging Dataset with Country Code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1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SLIDE_TYPE" val="text"/>
  <p:tag name="KSO_WM_BEAUTIFY_FLAG" val="#wm#"/>
</p:tagLst>
</file>

<file path=ppt/tags/tag1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添加标题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  <p:tag name="KSO_WM_UNIT_ID" val="_2*a*1"/>
</p:tagLst>
</file>

<file path=ppt/tags/tag119.xml><?xml version="1.0" encoding="utf-8"?>
<p:tagLst xmlns:p="http://schemas.openxmlformats.org/presentationml/2006/main">
  <p:tag name="KSO_WM_UNIT_TYPE" val="f"/>
  <p:tag name="KSO_WM_UNIT_SUBTYPE" val="a"/>
  <p:tag name="KSO_WM_UNIT_INDEX" val="7"/>
  <p:tag name="KSO_WM_BEAUTIFY_FLAG" val="#wm#"/>
  <p:tag name="KSO_WM_TAG_VERSION" val="3.0"/>
  <p:tag name="KSO_WM_UNIT_PRESET_TEXT" val="单击此处编辑母版文本样式&#10;第二级&#10;第三级&#10;第四级&#10;第五级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30"/>
</p:tagLst>
</file>

<file path=ppt/tags/tag120.xml><?xml version="1.0" encoding="utf-8"?>
<p:tagLst xmlns:p="http://schemas.openxmlformats.org/presentationml/2006/main">
  <p:tag name="KSO_WM_SLIDE_TYPE" val="text"/>
  <p:tag name="KSO_WM_BEAUTIFY_FLAG" val="#wm#"/>
</p:tagLst>
</file>

<file path=ppt/tags/tag1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添加标题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  <p:tag name="KSO_WM_UNIT_ID" val="_2*a*1"/>
</p:tagLst>
</file>

<file path=ppt/tags/tag122.xml><?xml version="1.0" encoding="utf-8"?>
<p:tagLst xmlns:p="http://schemas.openxmlformats.org/presentationml/2006/main">
  <p:tag name="KSO_WM_UNIT_TYPE" val="l_h_f"/>
  <p:tag name="KSO_WM_UNIT_SUBTYPE" val="a"/>
  <p:tag name="KSO_WM_UNIT_INDEX" val="1_6_1"/>
  <p:tag name="KSO_WM_BEAUTIFY_FLAG" val="#wm#"/>
  <p:tag name="KSO_WM_TAG_VERSION" val="2.0"/>
  <p:tag name="KSO_WM_UNIT_PRESET_TEXT" val="单击此处编辑母版文本样式&#10;第二级&#10;第三级&#10;第四级&#10;第五级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30"/>
  <p:tag name="KSO_WM_TEMPLATE_CATEGORY" val="diagram"/>
  <p:tag name="KSO_WM_TEMPLATE_INDEX" val="19882022"/>
  <p:tag name="KSO_WM_UNIT_ID" val="diagram19882022*l_h_f*1_6_1"/>
  <p:tag name="KSO_WM_DIAGRAM_GROUP_CODE" val="l1-1"/>
  <p:tag name="KSO_WM_DIAGRAM_VIRTUALLY_FRAME" val="{&quot;height&quot;:444.55,&quot;left&quot;:40,&quot;top&quot;:102.49992125984252,&quot;width&quot;:650}"/>
</p:tagLst>
</file>

<file path=ppt/tags/tag123.xml><?xml version="1.0" encoding="utf-8"?>
<p:tagLst xmlns:p="http://schemas.openxmlformats.org/presentationml/2006/main">
  <p:tag name="KSO_WM_SLIDE_TYPE" val="text"/>
  <p:tag name="KSO_WM_BEAUTIFY_FLAG" val="#wm#"/>
</p:tagLst>
</file>

<file path=ppt/tags/tag12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25.xml><?xml version="1.0" encoding="utf-8"?>
<p:tagLst xmlns:p="http://schemas.openxmlformats.org/presentationml/2006/main">
  <p:tag name="KSO_WM_UNIT_TEXT" val="KPI Overview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2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SLIDE_TYPE" val="text"/>
  <p:tag name="KSO_WM_BEAUTIFY_FLAG" val="#wm#"/>
</p:tagLst>
</file>

<file path=ppt/tags/tag12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29.xml><?xml version="1.0" encoding="utf-8"?>
<p:tagLst xmlns:p="http://schemas.openxmlformats.org/presentationml/2006/main">
  <p:tag name="KSO_WM_UNIT_TEXT" val="Top Cities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3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1.xml><?xml version="1.0" encoding="utf-8"?>
<p:tagLst xmlns:p="http://schemas.openxmlformats.org/presentationml/2006/main">
  <p:tag name="KSO_WM_SLIDE_TYPE" val="text"/>
  <p:tag name="KSO_WM_BEAUTIFY_FLAG" val="#wm#"/>
</p:tagLst>
</file>

<file path=ppt/tags/tag13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33.xml><?xml version="1.0" encoding="utf-8"?>
<p:tagLst xmlns:p="http://schemas.openxmlformats.org/presentationml/2006/main">
  <p:tag name="KSO_WM_UNIT_TEXT" val="Top Restaurants by Country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3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SLIDE_TYPE" val="text"/>
  <p:tag name="KSO_WM_BEAUTIFY_FLAG" val="#wm#"/>
</p:tagLst>
</file>

<file path=ppt/tags/tag13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37.xml><?xml version="1.0" encoding="utf-8"?>
<p:tagLst xmlns:p="http://schemas.openxmlformats.org/presentationml/2006/main">
  <p:tag name="KSO_WM_UNIT_TEXT" val="City Level Analysis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3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SLIDE_TYPE" val="text"/>
  <p:tag name="KSO_WM_BEAUTIFY_FLAG" val="#wm#"/>
</p:tagLst>
</file>

<file path=ppt/tags/tag1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41.xml><?xml version="1.0" encoding="utf-8"?>
<p:tagLst xmlns:p="http://schemas.openxmlformats.org/presentationml/2006/main">
  <p:tag name="KSO_WM_UNIT_TEXT" val="Restaurant Opening Trend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4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SLIDE_TYPE" val="text"/>
  <p:tag name="KSO_WM_BEAUTIFY_FLAG" val="#wm#"/>
</p:tagLst>
</file>

<file path=ppt/tags/tag1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45.xml><?xml version="1.0" encoding="utf-8"?>
<p:tagLst xmlns:p="http://schemas.openxmlformats.org/presentationml/2006/main">
  <p:tag name="KSO_WM_UNIT_TEXT" val="India Dominance Insight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4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SLIDE_TYPE" val="text"/>
  <p:tag name="KSO_WM_BEAUTIFY_FLAG" val="#wm#"/>
</p:tagLst>
</file>

<file path=ppt/tags/tag14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49.xml><?xml version="1.0" encoding="utf-8"?>
<p:tagLst xmlns:p="http://schemas.openxmlformats.org/presentationml/2006/main">
  <p:tag name="KSO_WM_UNIT_TEXT" val="Top Cuisines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5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SLIDE_TYPE" val="text"/>
  <p:tag name="KSO_WM_BEAUTIFY_FLAG" val="#wm#"/>
</p:tagLst>
</file>

<file path=ppt/tags/tag15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53.xml><?xml version="1.0" encoding="utf-8"?>
<p:tagLst xmlns:p="http://schemas.openxmlformats.org/presentationml/2006/main">
  <p:tag name="KSO_WM_UNIT_TEXT" val="Cuisine Popularity Insight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5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5.xml><?xml version="1.0" encoding="utf-8"?>
<p:tagLst xmlns:p="http://schemas.openxmlformats.org/presentationml/2006/main">
  <p:tag name="KSO_WM_SLIDE_TYPE" val="text"/>
  <p:tag name="KSO_WM_BEAUTIFY_FLAG" val="#wm#"/>
</p:tagLst>
</file>

<file path=ppt/tags/tag15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57.xml><?xml version="1.0" encoding="utf-8"?>
<p:tagLst xmlns:p="http://schemas.openxmlformats.org/presentationml/2006/main">
  <p:tag name="KSO_WM_UNIT_TEXT" val="Average Ratings Analysis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5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9.xml><?xml version="1.0" encoding="utf-8"?>
<p:tagLst xmlns:p="http://schemas.openxmlformats.org/presentationml/2006/main">
  <p:tag name="KSO_WM_SLIDE_TYPE" val="text"/>
  <p:tag name="KSO_WM_BEAUTIFY_FLAG" val="#wm#"/>
</p:tagLst>
</file>

<file path=ppt/tags/tag1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61.xml><?xml version="1.0" encoding="utf-8"?>
<p:tagLst xmlns:p="http://schemas.openxmlformats.org/presentationml/2006/main">
  <p:tag name="KSO_WM_UNIT_TEXT" val="Rating Distribution Insight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6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63.xml><?xml version="1.0" encoding="utf-8"?>
<p:tagLst xmlns:p="http://schemas.openxmlformats.org/presentationml/2006/main">
  <p:tag name="KSO_WM_SLIDE_TYPE" val="text"/>
  <p:tag name="KSO_WM_BEAUTIFY_FLAG" val="#wm#"/>
</p:tagLst>
</file>

<file path=ppt/tags/tag1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65.xml><?xml version="1.0" encoding="utf-8"?>
<p:tagLst xmlns:p="http://schemas.openxmlformats.org/presentationml/2006/main">
  <p:tag name="KSO_WM_UNIT_TEXT" val="Price Range Analysis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6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67.xml><?xml version="1.0" encoding="utf-8"?>
<p:tagLst xmlns:p="http://schemas.openxmlformats.org/presentationml/2006/main">
  <p:tag name="KSO_WM_SLIDE_TYPE" val="text"/>
  <p:tag name="KSO_WM_BEAUTIFY_FLAG" val="#wm#"/>
</p:tagLst>
</file>

<file path=ppt/tags/tag16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69.xml><?xml version="1.0" encoding="utf-8"?>
<p:tagLst xmlns:p="http://schemas.openxmlformats.org/presentationml/2006/main">
  <p:tag name="KSO_WM_UNIT_TEXT" val="Cost Distribution Insight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7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SLIDE_TYPE" val="text"/>
  <p:tag name="KSO_WM_BEAUTIFY_FLAG" val="#wm#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0"/>
</p:tagLst>
</file>

<file path=ppt/tags/tag175.xml><?xml version="1.0" encoding="utf-8"?>
<p:tagLst xmlns:p="http://schemas.openxmlformats.org/presentationml/2006/main">
  <p:tag name="KSO_WM_UNIT_TEXT" val="Growth Trend Analysis"/>
  <p:tag name="KSO_WM_UNIT_INDEX" val="1"/>
  <p:tag name="KSO_WM_UNIT_TYPE" val="a"/>
  <p:tag name="KSO_WM_BEAUTIFY_FLAG" val="#wm#"/>
  <p:tag name="KSO_WM_TAG_VERSION" val="3.0"/>
  <p:tag name="KSO_WM_UNIT_PRESET_TEXT" val="单击此处添加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  <p:tag name="KSO_WM_UNIT_CONTENT_GROUP_TYPE" val="titlestyle"/>
</p:tagLst>
</file>

<file path=ppt/tags/tag17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77.xml><?xml version="1.0" encoding="utf-8"?>
<p:tagLst xmlns:p="http://schemas.openxmlformats.org/presentationml/2006/main">
  <p:tag name="KSO_WM_SLIDE_TYPE" val="text"/>
  <p:tag name="KSO_WM_BEAUTIFY_FLAG" val="#wm#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7980_9*a*1"/>
  <p:tag name="KSO_WM_TEMPLATE_CATEGORY" val="custom"/>
  <p:tag name="KSO_WM_TEMPLATE_INDEX" val="20237980"/>
  <p:tag name="KSO_WM_UNIT_LAYERLEVEL" val="1"/>
  <p:tag name="KSO_WM_TAG_VERSION" val="3.0"/>
  <p:tag name="KSO_WM_BEAUTIFY_FLAG" val="#wm#"/>
  <p:tag name="KSO_WM_UNIT_PRESET_TEXT" val="THANK YOU"/>
</p:tagLst>
</file>

<file path=ppt/tags/tag179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7980_9*f*1"/>
  <p:tag name="KSO_WM_TEMPLATE_CATEGORY" val="custom"/>
  <p:tag name="KSO_WM_TEMPLATE_INDEX" val="20237980"/>
  <p:tag name="KSO_WM_UNIT_LAYERLEVEL" val="1"/>
  <p:tag name="KSO_WM_TAG_VERSION" val="3.0"/>
  <p:tag name="KSO_WM_BEAUTIFY_FLAG" val="#wm#"/>
  <p:tag name="KSO_WM_UNIT_PRESET_TEXT" val="Name"/>
</p:tagLst>
</file>

<file path=ppt/tags/tag180.xml><?xml version="1.0" encoding="utf-8"?>
<p:tagLst xmlns:p="http://schemas.openxmlformats.org/presentationml/2006/main">
  <p:tag name="KSO_WM_SLIDE_CONTENT_AREA" val="{&quot;left&quot;:&quot;353.6&quot;,&quot;top&quot;:&quot;80.55&quot;,&quot;width&quot;:&quot;587.55&quot;,&quot;height&quot;:&quot;362.5&quot;}"/>
  <p:tag name="KSO_WM_SPECIAL_SOURCE" val="bdnull"/>
  <p:tag name="KSO_WM_SLIDE_ID" val="custom2023798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80"/>
  <p:tag name="KSO_WM_SLIDE_LAYOUT" val="a_f"/>
  <p:tag name="KSO_WM_SLIDE_LAYOUT_CNT" val="1_1"/>
  <p:tag name="KSO_WM_SLIDE_THEME_ID" val="3303177"/>
  <p:tag name="KSO_WM_SLIDE_THEME_NAME" val="Green Busines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82">
      <a:dk1>
        <a:sysClr val="windowText" lastClr="000000"/>
      </a:dk1>
      <a:lt1>
        <a:sysClr val="window" lastClr="FFFFFF"/>
      </a:lt1>
      <a:dk2>
        <a:srgbClr val="103F48"/>
      </a:dk2>
      <a:lt2>
        <a:srgbClr val="F4FCFE"/>
      </a:lt2>
      <a:accent1>
        <a:srgbClr val="11869C"/>
      </a:accent1>
      <a:accent2>
        <a:srgbClr val="287FB0"/>
      </a:accent2>
      <a:accent3>
        <a:srgbClr val="3F77C4"/>
      </a:accent3>
      <a:accent4>
        <a:srgbClr val="5570D7"/>
      </a:accent4>
      <a:accent5>
        <a:srgbClr val="6C68EB"/>
      </a:accent5>
      <a:accent6>
        <a:srgbClr val="8361FF"/>
      </a:accent6>
      <a:hlink>
        <a:srgbClr val="0563C1"/>
      </a:hlink>
      <a:folHlink>
        <a:srgbClr val="954D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9163</Words>
  <Application>WPS Presentation</Application>
  <PresentationFormat>On-screen Show (4:3)</PresentationFormat>
  <Paragraphs>194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SimSun</vt:lpstr>
      <vt:lpstr>Wingdings</vt:lpstr>
      <vt:lpstr>Arial</vt:lpstr>
      <vt:lpstr>江城圆体 400W</vt:lpstr>
      <vt:lpstr>Arial Black</vt:lpstr>
      <vt:lpstr>Lato</vt:lpstr>
      <vt:lpstr>Segoe Print</vt:lpstr>
      <vt:lpstr>Manrope ExtraBold</vt:lpstr>
      <vt:lpstr>Microsoft YaHei</vt:lpstr>
      <vt:lpstr>Arial Unicode MS</vt:lpstr>
      <vt:lpstr>Calibri</vt:lpstr>
      <vt:lpstr>MiSans Normal</vt:lpstr>
      <vt:lpstr>Wingdings</vt:lpstr>
      <vt:lpstr>Inter Bold</vt:lpstr>
      <vt:lpstr>Inter</vt:lpstr>
      <vt:lpstr>Verdana</vt:lpstr>
      <vt:lpstr>Office Theme</vt:lpstr>
      <vt:lpstr>2_Office Theme</vt:lpstr>
      <vt:lpstr>Healthcare Analytics Project</vt:lpstr>
      <vt:lpstr>Healthcare Dataset Overview</vt:lpstr>
      <vt:lpstr>Data Modelling &amp; Relationships</vt:lpstr>
      <vt:lpstr>KPI Overview</vt:lpstr>
      <vt:lpstr>Total Patients Analysis</vt:lpstr>
      <vt:lpstr>Total Visit Analysis</vt:lpstr>
      <vt:lpstr>Completion Rate Analysis</vt:lpstr>
      <vt:lpstr>Success Rate Analysis</vt:lpstr>
      <vt:lpstr>Revenue Analysis</vt:lpstr>
      <vt:lpstr>Chronic Disease Rate</vt:lpstr>
      <vt:lpstr>Visit Type Distribution</vt:lpstr>
      <vt:lpstr>Top Diagnoses by Volume</vt:lpstr>
      <vt:lpstr>Monthly Visit Trend</vt:lpstr>
      <vt:lpstr>Treatment Outcomes Breakdown</vt:lpstr>
      <vt:lpstr>Patient Distribution by State</vt:lpstr>
      <vt:lpstr>Revenue by Department</vt:lpstr>
      <vt:lpstr>Department Filter Analysis</vt:lpstr>
      <vt:lpstr>Visit Year Analysis</vt:lpstr>
      <vt:lpstr>Treatment Type Analysis</vt:lpstr>
      <vt:lpstr>PowerPoint 演示文稿</vt:lpstr>
      <vt:lpstr>Project Summary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Priyanka Kumari</cp:lastModifiedBy>
  <cp:revision>76</cp:revision>
  <dcterms:created xsi:type="dcterms:W3CDTF">2013-01-27T09:14:00Z</dcterms:created>
  <dcterms:modified xsi:type="dcterms:W3CDTF">2026-05-22T09:30:13Z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D6B2299AD085478B883A012FA3ECBA7B_12</vt:lpwstr>
  </property>
  <property fmtid="{D5CDD505-2E9C-101B-9397-08002B2CF9AE}" pid="3" name="KSOProductBuildVer">
    <vt:lpwstr>1033-12.1.0.26372</vt:lpwstr>
  </property>
</Properties>
</file>